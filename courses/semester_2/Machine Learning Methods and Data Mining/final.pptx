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95" r:id="rId3"/>
    <p:sldId id="257" r:id="rId4"/>
    <p:sldId id="258" r:id="rId5"/>
    <p:sldId id="259" r:id="rId6"/>
    <p:sldId id="296" r:id="rId7"/>
    <p:sldId id="260" r:id="rId8"/>
    <p:sldId id="267" r:id="rId9"/>
    <p:sldId id="268" r:id="rId10"/>
    <p:sldId id="262" r:id="rId11"/>
    <p:sldId id="263" r:id="rId12"/>
    <p:sldId id="264" r:id="rId13"/>
    <p:sldId id="265" r:id="rId14"/>
    <p:sldId id="266" r:id="rId15"/>
    <p:sldId id="292" r:id="rId16"/>
    <p:sldId id="270" r:id="rId17"/>
    <p:sldId id="280" r:id="rId18"/>
    <p:sldId id="286" r:id="rId19"/>
    <p:sldId id="287" r:id="rId20"/>
    <p:sldId id="291" r:id="rId21"/>
    <p:sldId id="288" r:id="rId22"/>
    <p:sldId id="285" r:id="rId23"/>
    <p:sldId id="284" r:id="rId24"/>
    <p:sldId id="289" r:id="rId25"/>
    <p:sldId id="293" r:id="rId26"/>
    <p:sldId id="274" r:id="rId27"/>
    <p:sldId id="278" r:id="rId28"/>
    <p:sldId id="277" r:id="rId29"/>
    <p:sldId id="272" r:id="rId30"/>
    <p:sldId id="290" r:id="rId31"/>
    <p:sldId id="294" r:id="rId32"/>
    <p:sldId id="27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8A7CF-8A25-4C9B-8330-C8FC8397EEA6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8C031-A194-4789-9B7D-D26EE0D42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8C031-A194-4789-9B7D-D26EE0D42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9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8C031-A194-4789-9B7D-D26EE0D42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AB79-2436-4912-A5E2-38D567F13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49B67-2188-4E5F-B33E-790F0AF2A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C82C0-3720-43A9-85CD-BA0C7D82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14C18-F49D-4829-859F-F918EFFD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2FA29-DA27-4334-8179-37503D2B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0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4EF7-6924-4E03-A248-4F1383C4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80B4D-D19A-43A4-9B4E-BB9C45EF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EC6B-0079-402E-8508-ABE72F3D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A7595-A5EE-478B-8B10-D2480352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D1CB-6342-4132-8439-4B3F6F0F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6540-FF38-4C81-9EDC-63AA877F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43B2F-E06A-4E3B-9750-D875EA7E3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2F67E-E76B-4A96-8A36-9CD3EE2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F6F75-229A-4772-80A8-E5C215AD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867F4-86A4-447D-9DC3-B3A15006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4249-225E-4C07-8EB3-BF8B23321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B790E-D01F-4DCC-8AFD-9254E953E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E3711-54BB-4060-9074-5D0F49281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E1D53-A98B-4B35-B447-868F82BA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FB494-7425-4D15-A410-31EE3AB0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13DD4-8096-43A0-99A1-F6880935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5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3E50-4414-46E2-9783-A3667E99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CA7ED-80D0-4AA6-8AF0-805F91CE9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41E90-0413-4E0A-80FE-CE8EEBFDB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6D6FC-50F7-4024-8492-EA23108F8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A0E59-5D34-425D-AC80-BC02021DD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167B0-C1AA-459C-86F0-886E13FA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4C012-216E-44A5-9820-15EAF6B1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F2EB6-5916-433F-871E-AA3204EB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4EF1-82BA-4820-B76E-531DA68E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B976A-346F-40E1-9C63-4128E506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6EE97-734B-4E32-B048-B943713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F6FD4-26E2-4F37-93A6-22DCB28D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2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780C5-1510-4454-AF39-8DB9FE25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E4447-95BC-45EB-8225-770DAF85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CB2B-867B-47CB-8F2D-845AB777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9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9EF3-CE5B-47C4-8025-2F106C7D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E4FF-A7DB-4C9A-A6B6-74CECE331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114BB-8AB2-4834-BDDE-DECD3DB8B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FC274-CB28-4529-9218-1D801D37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D6674-C5E6-48A5-AB21-093FBF34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2B52F-1D0C-45AB-847B-15057807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4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88AC-DB26-4EDA-A52D-11A938C4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F3495-542C-4FE6-B916-AEEC3F954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1AE29-B1E1-4F83-A898-19A44A54C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2FE19-F509-43C2-AAF3-57875138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183E4-AA0E-44AB-B26B-C7D688D2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A3B89-9E8D-4BB8-8D05-62C167EB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D031-21EA-4CF7-9EB0-97FCE3CF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EE5F2-2DB9-4F38-A52A-187143618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99A4A-544F-4395-9C5B-DD7FF681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86585-B7C5-4B42-9DC1-28AEDFD8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872C4-2CC9-466F-B37A-80897B06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FD4C4-3FAD-4BB1-AEBB-A1A9777EA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442D-42BB-4699-BFE5-AEBF86C74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6A1E-5E9A-4639-ADD1-23143310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F3B28-08F0-406D-B4B3-6E6B01DA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A5DB-CF38-46ED-AC4B-84758962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5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378FA-FB1D-4687-A32A-F6086E0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2FA0E-CF49-4DD5-839B-6C5F40D1D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F8269-86F2-44DC-930A-CD2CE777D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43019-15D4-4FC2-AC25-FAEE1276D449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6CEC2-5662-4CCF-8FCA-E8F7AEBE1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6305B-61D3-4F38-AAFB-0934E2663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9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157" y="1019997"/>
            <a:ext cx="10037685" cy="3028700"/>
          </a:xfrm>
        </p:spPr>
        <p:txBody>
          <a:bodyPr>
            <a:normAutofit fontScale="90000"/>
          </a:bodyPr>
          <a:lstStyle/>
          <a:p>
            <a:r>
              <a:rPr lang="en-US" dirty="0"/>
              <a:t>Multivariate Time Series Forecasting with Transformers: Optimizing Prediction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4B7FF-42AA-49E3-85B7-9B545A7AE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1448"/>
            <a:ext cx="9144000" cy="1655762"/>
          </a:xfrm>
        </p:spPr>
        <p:txBody>
          <a:bodyPr/>
          <a:lstStyle/>
          <a:p>
            <a:r>
              <a:rPr lang="en-US" dirty="0"/>
              <a:t>Zaitsev, A., </a:t>
            </a:r>
            <a:r>
              <a:rPr lang="en-US" dirty="0" err="1"/>
              <a:t>Mahfoud</a:t>
            </a:r>
            <a:r>
              <a:rPr lang="en-US" dirty="0"/>
              <a:t>, O.</a:t>
            </a:r>
          </a:p>
          <a:p>
            <a:r>
              <a:rPr lang="en-US" dirty="0"/>
              <a:t>University of Luxembourg</a:t>
            </a:r>
          </a:p>
        </p:txBody>
      </p:sp>
    </p:spTree>
    <p:extLst>
      <p:ext uri="{BB962C8B-B14F-4D97-AF65-F5344CB8AC3E}">
        <p14:creationId xmlns:p14="http://schemas.microsoft.com/office/powerpoint/2010/main" val="183389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1CCA-86BF-4B00-92E8-A9B39377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80826-2648-494E-8D44-A636EFD47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/>
          </a:bodyPr>
          <a:lstStyle/>
          <a:p>
            <a:r>
              <a:rPr lang="en-US" dirty="0"/>
              <a:t>History of time series forecasting</a:t>
            </a:r>
          </a:p>
          <a:p>
            <a:r>
              <a:rPr lang="en-US" dirty="0"/>
              <a:t>Transformers &amp; </a:t>
            </a:r>
            <a:r>
              <a:rPr lang="en-US" dirty="0" err="1"/>
              <a:t>PatchTST</a:t>
            </a:r>
            <a:endParaRPr lang="en-US" dirty="0"/>
          </a:p>
          <a:p>
            <a:r>
              <a:rPr lang="en-US" dirty="0"/>
              <a:t>Data overview</a:t>
            </a:r>
          </a:p>
          <a:p>
            <a:r>
              <a:rPr lang="en-US" dirty="0"/>
              <a:t>Train / validation splits</a:t>
            </a:r>
          </a:p>
          <a:p>
            <a:r>
              <a:rPr lang="en-US" dirty="0"/>
              <a:t>Problem with multivariate TSTs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Gained insight</a:t>
            </a:r>
          </a:p>
          <a:p>
            <a:r>
              <a:rPr lang="en-US" dirty="0"/>
              <a:t>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73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8596-177D-41CB-8AF1-D47BD8560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2" y="1807287"/>
            <a:ext cx="11102788" cy="5002587"/>
          </a:xfrm>
        </p:spPr>
        <p:txBody>
          <a:bodyPr>
            <a:normAutofit/>
          </a:bodyPr>
          <a:lstStyle/>
          <a:p>
            <a:r>
              <a:rPr lang="en-US" sz="3000" u="sng" dirty="0"/>
              <a:t>Statistical methods</a:t>
            </a:r>
            <a:r>
              <a:rPr lang="en-US" sz="3000" dirty="0"/>
              <a:t>: AR (1920), ARIMA (1960), VAR (1980).</a:t>
            </a:r>
          </a:p>
          <a:p>
            <a:r>
              <a:rPr lang="en-US" sz="3000" u="sng" dirty="0"/>
              <a:t>Machine learning methods</a:t>
            </a:r>
            <a:r>
              <a:rPr lang="en-US" sz="3000" dirty="0"/>
              <a:t>: Linear Regression and SVMs (1990), Random Forest and Gradient Boosting (2000).</a:t>
            </a:r>
          </a:p>
          <a:p>
            <a:r>
              <a:rPr lang="en-US" sz="3000" u="sng" dirty="0"/>
              <a:t>Deep learning methods</a:t>
            </a:r>
            <a:r>
              <a:rPr lang="en-US" sz="3000" dirty="0"/>
              <a:t>: RNNs (2010s), LSTMs (2010s), GRUs (2010s)</a:t>
            </a:r>
          </a:p>
          <a:p>
            <a:r>
              <a:rPr lang="en-US" sz="3000" u="sng" dirty="0"/>
              <a:t>Transformers</a:t>
            </a:r>
            <a:r>
              <a:rPr lang="en-US" sz="3000" dirty="0"/>
              <a:t>: “Attention is all you need” (2017) =&gt; Transformers for time series forecasting (since 2018).</a:t>
            </a:r>
          </a:p>
          <a:p>
            <a:pPr marL="0" indent="0">
              <a:buNone/>
            </a:pPr>
            <a:endParaRPr lang="en-US" sz="3000" i="1" dirty="0"/>
          </a:p>
          <a:p>
            <a:pPr marL="0" indent="0">
              <a:buNone/>
            </a:pPr>
            <a:r>
              <a:rPr lang="en-US" sz="3000" i="1" dirty="0"/>
              <a:t>Notice the trend: at first trying to handle temporal dependencies, then temporal + spatial dependencies.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48E112-2B31-49F5-9DB9-A82BCCA5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Time series forecasting: History</a:t>
            </a:r>
          </a:p>
        </p:txBody>
      </p:sp>
    </p:spTree>
    <p:extLst>
      <p:ext uri="{BB962C8B-B14F-4D97-AF65-F5344CB8AC3E}">
        <p14:creationId xmlns:p14="http://schemas.microsoft.com/office/powerpoint/2010/main" val="3491143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739E-F2C8-48D8-8D01-3D1FBA0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143EB-E370-4F0F-9F02-EC3FE75F2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5" y="1807695"/>
            <a:ext cx="11084859" cy="4351338"/>
          </a:xfrm>
        </p:spPr>
        <p:txBody>
          <a:bodyPr>
            <a:normAutofit/>
          </a:bodyPr>
          <a:lstStyle/>
          <a:p>
            <a:r>
              <a:rPr lang="en-US" sz="3000" dirty="0"/>
              <a:t>Transformer model introduced by Vaswani et al. (2017) for natural language processing tasks in “Attention is all you need” paper.</a:t>
            </a:r>
          </a:p>
          <a:p>
            <a:r>
              <a:rPr lang="en-US" sz="3000" dirty="0"/>
              <a:t>Researchers adapt the idea for computer vision (Khan et al., 2021), Speech (</a:t>
            </a:r>
            <a:r>
              <a:rPr lang="en-US" sz="3000" dirty="0" err="1"/>
              <a:t>Karita</a:t>
            </a:r>
            <a:r>
              <a:rPr lang="en-US" sz="3000" dirty="0"/>
              <a:t> et al., 2019) tasks.</a:t>
            </a:r>
          </a:p>
          <a:p>
            <a:r>
              <a:rPr lang="en-US" sz="3000" dirty="0"/>
              <a:t>Works well with sequence data! </a:t>
            </a:r>
          </a:p>
          <a:p>
            <a:r>
              <a:rPr lang="en-US" sz="3000" dirty="0"/>
              <a:t>Finally: Transformers in Time Series: A Survey (Wen et al., 2022) – general overview of current use of Transformers for time series data.</a:t>
            </a:r>
          </a:p>
        </p:txBody>
      </p:sp>
    </p:spTree>
    <p:extLst>
      <p:ext uri="{BB962C8B-B14F-4D97-AF65-F5344CB8AC3E}">
        <p14:creationId xmlns:p14="http://schemas.microsoft.com/office/powerpoint/2010/main" val="232284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739E-F2C8-48D8-8D01-3D1FBA0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143EB-E370-4F0F-9F02-EC3FE75F2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85" y="1628943"/>
            <a:ext cx="6451050" cy="4863932"/>
          </a:xfrm>
        </p:spPr>
        <p:txBody>
          <a:bodyPr>
            <a:normAutofit/>
          </a:bodyPr>
          <a:lstStyle/>
          <a:p>
            <a:r>
              <a:rPr lang="en-US" sz="3200" dirty="0"/>
              <a:t>Transformers: neural network architecture</a:t>
            </a:r>
          </a:p>
          <a:p>
            <a:r>
              <a:rPr lang="en-US" sz="3200" dirty="0"/>
              <a:t>Processes sequential data. </a:t>
            </a:r>
          </a:p>
          <a:p>
            <a:r>
              <a:rPr lang="en-US" sz="3200" dirty="0"/>
              <a:t>Uses self-attention mechanism to weigh the influence of different parts of the input sequence.</a:t>
            </a:r>
          </a:p>
          <a:p>
            <a:r>
              <a:rPr lang="en-US" sz="3200" dirty="0"/>
              <a:t>Captures long-range dependencies.</a:t>
            </a:r>
          </a:p>
          <a:p>
            <a:r>
              <a:rPr lang="en-US" sz="3200" dirty="0"/>
              <a:t>Efficient for parallel processing.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C485E6-6EAB-426B-8ABE-E9DACE2D4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846" y="1"/>
            <a:ext cx="4867275" cy="617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500B81-CAC3-419F-B5AA-E96819D9F346}"/>
              </a:ext>
            </a:extLst>
          </p:cNvPr>
          <p:cNvSpPr txBox="1"/>
          <p:nvPr/>
        </p:nvSpPr>
        <p:spPr>
          <a:xfrm>
            <a:off x="6902824" y="6176682"/>
            <a:ext cx="4381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Vaswani et al. “Attention is all you need”. 2017</a:t>
            </a:r>
          </a:p>
        </p:txBody>
      </p:sp>
    </p:spTree>
    <p:extLst>
      <p:ext uri="{BB962C8B-B14F-4D97-AF65-F5344CB8AC3E}">
        <p14:creationId xmlns:p14="http://schemas.microsoft.com/office/powerpoint/2010/main" val="174805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739E-F2C8-48D8-8D01-3D1FBA0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</a:t>
            </a:r>
            <a:r>
              <a:rPr lang="en-US" dirty="0" err="1"/>
              <a:t>PatchTST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3DF97-6D9A-41B5-A096-FBD495885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88" y="4047585"/>
            <a:ext cx="9740619" cy="2533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DF735C-6259-4AC8-8B6A-297099189D0D}"/>
              </a:ext>
            </a:extLst>
          </p:cNvPr>
          <p:cNvSpPr txBox="1"/>
          <p:nvPr/>
        </p:nvSpPr>
        <p:spPr>
          <a:xfrm>
            <a:off x="884806" y="1543698"/>
            <a:ext cx="104223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Segmentation of time series into subseries-level patches which serve as input tokens to the Transformer.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Channel-independence where each channel contains a single univariate time series that shares the same embedding and Transformer weights across all the series, i.e. a global univariate model.</a:t>
            </a:r>
          </a:p>
        </p:txBody>
      </p:sp>
    </p:spTree>
    <p:extLst>
      <p:ext uri="{BB962C8B-B14F-4D97-AF65-F5344CB8AC3E}">
        <p14:creationId xmlns:p14="http://schemas.microsoft.com/office/powerpoint/2010/main" val="19492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quick overview |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B6AAA-5888-4659-B068-2AFDA5FB3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3000" dirty="0"/>
                  <a:t>Consider model input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0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3000" dirty="0"/>
                  <a:t>time series of historical daily stock prices.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3000" dirty="0"/>
                  <a:t> balance sheet, income and cashflows statements (</a:t>
                </a:r>
                <a:r>
                  <a:rPr lang="en-US" sz="3000" dirty="0" err="1"/>
                  <a:t>EoQ</a:t>
                </a:r>
                <a:r>
                  <a:rPr lang="en-US" sz="3000" dirty="0"/>
                  <a:t>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3000" dirty="0"/>
                  <a:t> technical indicators and volumes daily time series.</a:t>
                </a:r>
              </a:p>
              <a:p>
                <a:pPr marL="0" indent="0" algn="just">
                  <a:buNone/>
                </a:pPr>
                <a:r>
                  <a:rPr lang="en-US" sz="2400" i="1" dirty="0"/>
                  <a:t>source: Alphavantage.co API (https://www.alphavantage.co/)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Price, technical indicators and volumes data is daily.</a:t>
                </a:r>
              </a:p>
              <a:p>
                <a:r>
                  <a:rPr lang="en-US" sz="3000" dirty="0"/>
                  <a:t>Accounting data is quarterly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B6AAA-5888-4659-B068-2AFDA5FB3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80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8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quick overview |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6AAA-5888-4659-B068-2AFDA5FB3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Some of the data is backfilled to avoid NANs.</a:t>
            </a:r>
          </a:p>
          <a:p>
            <a:r>
              <a:rPr lang="en-US" sz="3000" dirty="0"/>
              <a:t>Statements include many columns, some of which are derived from others, hence removed manually.</a:t>
            </a:r>
          </a:p>
          <a:p>
            <a:r>
              <a:rPr lang="en-US" sz="3000" dirty="0"/>
              <a:t>More columns are removed as per feature selection (see next slide).</a:t>
            </a:r>
          </a:p>
          <a:p>
            <a:r>
              <a:rPr lang="en-US" sz="3000" dirty="0"/>
              <a:t>Technical indicators believed to have some forecasting potency.</a:t>
            </a:r>
          </a:p>
          <a:p>
            <a:r>
              <a:rPr lang="en-US" sz="3000" dirty="0"/>
              <a:t>Popular indicators included (RSI, etc.) to help model understand if market is overbought/oversold.</a:t>
            </a:r>
          </a:p>
        </p:txBody>
      </p:sp>
    </p:spTree>
    <p:extLst>
      <p:ext uri="{BB962C8B-B14F-4D97-AF65-F5344CB8AC3E}">
        <p14:creationId xmlns:p14="http://schemas.microsoft.com/office/powerpoint/2010/main" val="136506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quick overview | Feature Selection, 						     Splitting &amp;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6AAA-5888-4659-B068-2AFDA5FB3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709"/>
            <a:ext cx="10515600" cy="4351338"/>
          </a:xfrm>
        </p:spPr>
        <p:txBody>
          <a:bodyPr/>
          <a:lstStyle/>
          <a:p>
            <a:r>
              <a:rPr lang="en-US" sz="3000" dirty="0"/>
              <a:t>We perform feature selection with the help of Random Forest (</a:t>
            </a:r>
            <a:r>
              <a:rPr lang="en-US" sz="3000" dirty="0" err="1"/>
              <a:t>Breiman</a:t>
            </a:r>
            <a:r>
              <a:rPr lang="en-US" sz="3000" dirty="0"/>
              <a:t>, 2001) and </a:t>
            </a:r>
            <a:r>
              <a:rPr lang="en-US" sz="3000" dirty="0" err="1"/>
              <a:t>XGBoost</a:t>
            </a:r>
            <a:r>
              <a:rPr lang="en-US" sz="3000" dirty="0"/>
              <a:t> (Chen &amp; </a:t>
            </a:r>
            <a:r>
              <a:rPr lang="en-US" sz="3000" dirty="0" err="1"/>
              <a:t>Guestrin</a:t>
            </a:r>
            <a:r>
              <a:rPr lang="en-US" sz="3000" dirty="0"/>
              <a:t>, 2016) algorithms we rank the features based on their importance scores towards the price feature (use feature if importance &gt;4%).</a:t>
            </a:r>
          </a:p>
          <a:p>
            <a:r>
              <a:rPr lang="en-US" sz="3000" dirty="0"/>
              <a:t>Train / validation sets splitting (see “Train / validation splits”).</a:t>
            </a:r>
          </a:p>
          <a:p>
            <a:r>
              <a:rPr lang="en-US" sz="3000" dirty="0"/>
              <a:t>Scaling: standardization (mean 0, std 1).</a:t>
            </a:r>
          </a:p>
        </p:txBody>
      </p:sp>
    </p:spTree>
    <p:extLst>
      <p:ext uri="{BB962C8B-B14F-4D97-AF65-F5344CB8AC3E}">
        <p14:creationId xmlns:p14="http://schemas.microsoft.com/office/powerpoint/2010/main" val="105301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/ validation splits:</a:t>
            </a:r>
            <a:br>
              <a:rPr lang="en-US" dirty="0"/>
            </a:br>
            <a:r>
              <a:rPr lang="en-US" dirty="0"/>
              <a:t>	traditional &amp; our approaches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244708-7052-4665-A4DF-80AE49F56ED7}"/>
              </a:ext>
            </a:extLst>
          </p:cNvPr>
          <p:cNvCxnSpPr/>
          <p:nvPr/>
        </p:nvCxnSpPr>
        <p:spPr>
          <a:xfrm>
            <a:off x="0" y="4173052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269CD22-8834-46D8-B28B-9A6017E16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6884"/>
            <a:ext cx="12192000" cy="2546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C945C-394F-4005-859A-611E439B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2325"/>
            <a:ext cx="12192000" cy="25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5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for Transformers: </a:t>
            </a:r>
            <a:br>
              <a:rPr lang="en-US" dirty="0"/>
            </a:br>
            <a:r>
              <a:rPr lang="en-US" dirty="0"/>
              <a:t>	lookback &amp; prediction windows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46603-6681-44C9-85E1-5DFC98BF2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29" y="1837765"/>
            <a:ext cx="11071412" cy="474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8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7B51E81-B2F1-46CF-8A4D-08DC43B0C50F}"/>
              </a:ext>
            </a:extLst>
          </p:cNvPr>
          <p:cNvSpPr/>
          <p:nvPr/>
        </p:nvSpPr>
        <p:spPr>
          <a:xfrm>
            <a:off x="443752" y="3429000"/>
            <a:ext cx="5199529" cy="3366245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multivariate TSTs:</a:t>
            </a:r>
            <a:br>
              <a:rPr lang="en-US" dirty="0"/>
            </a:br>
            <a:r>
              <a:rPr lang="en-US" dirty="0"/>
              <a:t>	same input &amp; output feature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Transformers require same input &amp; output feature sets, limiting flexibility in predicting fixed features while incorporating broader input, restricting ability to leverage richer input for improved accuracy.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FCBB6C-3925-4315-A566-72C4E9B53B3B}"/>
              </a:ext>
            </a:extLst>
          </p:cNvPr>
          <p:cNvSpPr/>
          <p:nvPr/>
        </p:nvSpPr>
        <p:spPr>
          <a:xfrm>
            <a:off x="8095130" y="3738565"/>
            <a:ext cx="3258670" cy="2438398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B24437E-8361-4AEB-B0F6-713544AABC9B}"/>
              </a:ext>
            </a:extLst>
          </p:cNvPr>
          <p:cNvSpPr/>
          <p:nvPr/>
        </p:nvSpPr>
        <p:spPr>
          <a:xfrm>
            <a:off x="5862918" y="4661647"/>
            <a:ext cx="2034988" cy="618565"/>
          </a:xfrm>
          <a:prstGeom prst="rightArrow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1A1F256F-BFA6-4998-99C1-930ABB5EE893}"/>
              </a:ext>
            </a:extLst>
          </p:cNvPr>
          <p:cNvSpPr/>
          <p:nvPr/>
        </p:nvSpPr>
        <p:spPr>
          <a:xfrm>
            <a:off x="5916706" y="3904129"/>
            <a:ext cx="1721223" cy="2133600"/>
          </a:xfrm>
          <a:prstGeom prst="mathMultiply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CF94D-6A8A-46A1-B9F1-FBE962745B5A}"/>
              </a:ext>
            </a:extLst>
          </p:cNvPr>
          <p:cNvSpPr txBox="1"/>
          <p:nvPr/>
        </p:nvSpPr>
        <p:spPr>
          <a:xfrm>
            <a:off x="9179860" y="4600952"/>
            <a:ext cx="151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E733E-9A86-4442-96C8-A4C62B33C5AA}"/>
              </a:ext>
            </a:extLst>
          </p:cNvPr>
          <p:cNvSpPr txBox="1"/>
          <p:nvPr/>
        </p:nvSpPr>
        <p:spPr>
          <a:xfrm>
            <a:off x="1138519" y="3939877"/>
            <a:ext cx="41192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RSI, Assets, Inventory, Volume, Goodwill, Real Upper Band, Estimated EPS, Total Revenue, …</a:t>
            </a:r>
          </a:p>
        </p:txBody>
      </p:sp>
    </p:spTree>
    <p:extLst>
      <p:ext uri="{BB962C8B-B14F-4D97-AF65-F5344CB8AC3E}">
        <p14:creationId xmlns:p14="http://schemas.microsoft.com/office/powerpoint/2010/main" val="2121439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4A8A5-7F68-4D72-B23D-AE82B89EE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27" y="3429000"/>
            <a:ext cx="11462501" cy="32729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with multivariate TSTs :</a:t>
            </a:r>
            <a:br>
              <a:rPr lang="en-US" dirty="0"/>
            </a:br>
            <a:r>
              <a:rPr lang="en-US" dirty="0"/>
              <a:t>	solution idea 1: Convolutional Autoencoder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0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Train separate Convolutional Autoencoder model and use the encoder portion to extract a latent representation of the input data with a lower dimensionality compatible with the output dimensionality.</a:t>
            </a:r>
          </a:p>
        </p:txBody>
      </p:sp>
    </p:spTree>
    <p:extLst>
      <p:ext uri="{BB962C8B-B14F-4D97-AF65-F5344CB8AC3E}">
        <p14:creationId xmlns:p14="http://schemas.microsoft.com/office/powerpoint/2010/main" val="288494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C24332-2611-49B0-9955-31BBE0756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5223"/>
            <a:ext cx="12192000" cy="39270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multivariate TSTs:</a:t>
            </a:r>
            <a:br>
              <a:rPr lang="en-US" dirty="0"/>
            </a:br>
            <a:r>
              <a:rPr lang="en-US" dirty="0"/>
              <a:t>	solution idea 2: Encoder + TST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0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Integrate an encoder block directly into the Transformer architecture as the initial layers, so that the model can learn itself how to transform given data into a lower dimensional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346573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95" y="0"/>
            <a:ext cx="10515600" cy="1325563"/>
          </a:xfrm>
        </p:spPr>
        <p:txBody>
          <a:bodyPr/>
          <a:lstStyle/>
          <a:p>
            <a:r>
              <a:rPr lang="en-US" dirty="0"/>
              <a:t>Problem with multivariate TSTs:</a:t>
            </a:r>
            <a:br>
              <a:rPr lang="en-US" dirty="0"/>
            </a:br>
            <a:r>
              <a:rPr lang="en-US" dirty="0"/>
              <a:t>	solution idea 3: custom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15" y="1308267"/>
            <a:ext cx="10515600" cy="2120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Use all data during training, but </a:t>
            </a:r>
            <a:r>
              <a:rPr lang="en-US" sz="3000" b="1" dirty="0"/>
              <a:t>nullify</a:t>
            </a:r>
            <a:r>
              <a:rPr lang="en-US" sz="3000" dirty="0"/>
              <a:t> all features except “price” features in the </a:t>
            </a:r>
            <a:r>
              <a:rPr lang="en-US" sz="3000" b="1" dirty="0"/>
              <a:t>loss function </a:t>
            </a:r>
            <a:r>
              <a:rPr lang="en-US" sz="3000" dirty="0"/>
              <a:t>by setting their weights to zero, ensuring they do not contribute to the loss calculation.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11B70-208D-4BAE-97AE-5016BB7D7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22" y="2633830"/>
            <a:ext cx="10374173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3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9553" y="2975999"/>
            <a:ext cx="2692893" cy="906001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63079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default / custom splits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B1F42-7F25-4E18-A7C7-C24AE1BD9EFC}"/>
              </a:ext>
            </a:extLst>
          </p:cNvPr>
          <p:cNvSpPr txBox="1"/>
          <p:nvPr/>
        </p:nvSpPr>
        <p:spPr>
          <a:xfrm>
            <a:off x="555811" y="1876930"/>
            <a:ext cx="110803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Results are best on the test set that the model has never seen before. We used the same architecture everywhere.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Default split: 0.5162 (MAE)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Custom</a:t>
            </a:r>
            <a:r>
              <a:rPr lang="en-US" sz="3200" dirty="0"/>
              <a:t> split: </a:t>
            </a:r>
            <a:r>
              <a:rPr lang="en-US" sz="3200" b="1" dirty="0"/>
              <a:t>0.2078 </a:t>
            </a:r>
            <a:r>
              <a:rPr lang="en-US" sz="3200" dirty="0"/>
              <a:t>(MAE)</a:t>
            </a:r>
          </a:p>
        </p:txBody>
      </p:sp>
    </p:spTree>
    <p:extLst>
      <p:ext uri="{BB962C8B-B14F-4D97-AF65-F5344CB8AC3E}">
        <p14:creationId xmlns:p14="http://schemas.microsoft.com/office/powerpoint/2010/main" val="3747187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06EDC3-DE00-4162-91A6-291824C4B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1342"/>
            <a:ext cx="12192000" cy="300665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D5BED02-421E-4732-B34C-8596588EDB06}"/>
              </a:ext>
            </a:extLst>
          </p:cNvPr>
          <p:cNvSpPr/>
          <p:nvPr/>
        </p:nvSpPr>
        <p:spPr>
          <a:xfrm>
            <a:off x="2482876" y="4964706"/>
            <a:ext cx="869576" cy="77992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6492398-93A6-46E7-8288-9FD1F43E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8" y="142042"/>
            <a:ext cx="10515600" cy="1041478"/>
          </a:xfrm>
        </p:spPr>
        <p:txBody>
          <a:bodyPr/>
          <a:lstStyle/>
          <a:p>
            <a:r>
              <a:rPr lang="en-US" dirty="0"/>
              <a:t>Results: default split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BDC9D-7960-4C2E-ADBB-3358E9412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3805"/>
            <a:ext cx="12192000" cy="282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8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2082A8-6779-401D-8EBD-49696D817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0932"/>
            <a:ext cx="12192000" cy="27650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55A833-27F2-4B7A-9BB6-0BA501642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85936"/>
            <a:ext cx="12192000" cy="307206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D5BED02-421E-4732-B34C-8596588EDB06}"/>
              </a:ext>
            </a:extLst>
          </p:cNvPr>
          <p:cNvSpPr/>
          <p:nvPr/>
        </p:nvSpPr>
        <p:spPr>
          <a:xfrm>
            <a:off x="2438489" y="4932003"/>
            <a:ext cx="869576" cy="77992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C5CDFBB-10B1-44CA-B097-D8789DBE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8" y="142042"/>
            <a:ext cx="10515600" cy="1041478"/>
          </a:xfrm>
        </p:spPr>
        <p:txBody>
          <a:bodyPr/>
          <a:lstStyle/>
          <a:p>
            <a:r>
              <a:rPr lang="en-US" dirty="0"/>
              <a:t>Results: custom split</a:t>
            </a:r>
          </a:p>
        </p:txBody>
      </p:sp>
    </p:spTree>
    <p:extLst>
      <p:ext uri="{BB962C8B-B14F-4D97-AF65-F5344CB8AC3E}">
        <p14:creationId xmlns:p14="http://schemas.microsoft.com/office/powerpoint/2010/main" val="3558026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54241-7A18-4769-ADCC-C88A038A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6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weighted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B1F42-7F25-4E18-A7C7-C24AE1BD9EFC}"/>
              </a:ext>
            </a:extLst>
          </p:cNvPr>
          <p:cNvSpPr txBox="1"/>
          <p:nvPr/>
        </p:nvSpPr>
        <p:spPr>
          <a:xfrm>
            <a:off x="681143" y="1560188"/>
            <a:ext cx="110803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Issue: bad forecasting for later days (which makes sense, since data becomes more and more random).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Possible solution: add weights in loss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Weights: [0.5, 1, 1.5, 2, 2.5].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no weights: 0.2078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weighted: </a:t>
            </a:r>
            <a:r>
              <a:rPr lang="en-US" sz="3200" b="1" dirty="0"/>
              <a:t>0.2113</a:t>
            </a:r>
          </a:p>
        </p:txBody>
      </p:sp>
    </p:spTree>
    <p:extLst>
      <p:ext uri="{BB962C8B-B14F-4D97-AF65-F5344CB8AC3E}">
        <p14:creationId xmlns:p14="http://schemas.microsoft.com/office/powerpoint/2010/main" val="1617370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9B9E1F-181B-4B70-A0C0-8F71019F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0770"/>
            <a:ext cx="12192000" cy="3027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61910-5C12-4CF4-B5D3-F7AAB5F27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012"/>
            <a:ext cx="12192000" cy="29607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8" y="142042"/>
            <a:ext cx="10515600" cy="1041478"/>
          </a:xfrm>
        </p:spPr>
        <p:txBody>
          <a:bodyPr/>
          <a:lstStyle/>
          <a:p>
            <a:r>
              <a:rPr lang="en-US" dirty="0"/>
              <a:t>Results: weighted loss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DD05BB-208E-44FA-81B0-D82DD97545D8}"/>
              </a:ext>
            </a:extLst>
          </p:cNvPr>
          <p:cNvSpPr/>
          <p:nvPr/>
        </p:nvSpPr>
        <p:spPr>
          <a:xfrm>
            <a:off x="10981677" y="4041231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477F0D-2048-4F2D-A06E-CD6CA3FC0CCE}"/>
              </a:ext>
            </a:extLst>
          </p:cNvPr>
          <p:cNvSpPr/>
          <p:nvPr/>
        </p:nvSpPr>
        <p:spPr>
          <a:xfrm>
            <a:off x="2531615" y="5045524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C57103-6FDB-4F0C-84F1-7E12248394AA}"/>
              </a:ext>
            </a:extLst>
          </p:cNvPr>
          <p:cNvSpPr/>
          <p:nvPr/>
        </p:nvSpPr>
        <p:spPr>
          <a:xfrm>
            <a:off x="2531614" y="2102576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8EBA17-1EA9-4C30-9D62-C3DA921E85A8}"/>
              </a:ext>
            </a:extLst>
          </p:cNvPr>
          <p:cNvSpPr/>
          <p:nvPr/>
        </p:nvSpPr>
        <p:spPr>
          <a:xfrm>
            <a:off x="10981676" y="1000629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27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CA3026-4B6B-477C-B5A1-80CFE33B5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043" y="2985604"/>
            <a:ext cx="7794595" cy="387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486D43-1CC8-4121-A4D4-BD1B462DCD86}"/>
              </a:ext>
            </a:extLst>
          </p:cNvPr>
          <p:cNvSpPr txBox="1"/>
          <p:nvPr/>
        </p:nvSpPr>
        <p:spPr>
          <a:xfrm>
            <a:off x="174594" y="1407719"/>
            <a:ext cx="118428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Result: no convergence, the model is not able to learn how to properly represent data in the lower dimensional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tried adding skip connections, more encoding/decoding layers, FC layers.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73C375-57C1-42C4-8E78-8144B448726C}"/>
              </a:ext>
            </a:extLst>
          </p:cNvPr>
          <p:cNvSpPr txBox="1">
            <a:spLocks/>
          </p:cNvSpPr>
          <p:nvPr/>
        </p:nvSpPr>
        <p:spPr>
          <a:xfrm>
            <a:off x="838200" y="1662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Results: additional features</a:t>
            </a:r>
          </a:p>
          <a:p>
            <a:r>
              <a:rPr lang="en-US" dirty="0"/>
              <a:t>	separate Autoencoder</a:t>
            </a:r>
          </a:p>
        </p:txBody>
      </p:sp>
    </p:spTree>
    <p:extLst>
      <p:ext uri="{BB962C8B-B14F-4D97-AF65-F5344CB8AC3E}">
        <p14:creationId xmlns:p14="http://schemas.microsoft.com/office/powerpoint/2010/main" val="2592597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73C375-57C1-42C4-8E78-8144B448726C}"/>
              </a:ext>
            </a:extLst>
          </p:cNvPr>
          <p:cNvSpPr txBox="1">
            <a:spLocks/>
          </p:cNvSpPr>
          <p:nvPr/>
        </p:nvSpPr>
        <p:spPr>
          <a:xfrm>
            <a:off x="838200" y="1662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Results: additional features</a:t>
            </a:r>
          </a:p>
          <a:p>
            <a:r>
              <a:rPr lang="en-US" dirty="0"/>
              <a:t>	Encoder + TST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C65B1-C357-44D0-8732-D3A4F700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96" y="2438758"/>
            <a:ext cx="9100653" cy="4106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74C8B-0DE7-4114-9C1F-2628A949925A}"/>
              </a:ext>
            </a:extLst>
          </p:cNvPr>
          <p:cNvSpPr txBox="1"/>
          <p:nvPr/>
        </p:nvSpPr>
        <p:spPr>
          <a:xfrm>
            <a:off x="174594" y="1638539"/>
            <a:ext cx="1184281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Same result, no convergence.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648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73C375-57C1-42C4-8E78-8144B448726C}"/>
              </a:ext>
            </a:extLst>
          </p:cNvPr>
          <p:cNvSpPr txBox="1">
            <a:spLocks/>
          </p:cNvSpPr>
          <p:nvPr/>
        </p:nvSpPr>
        <p:spPr>
          <a:xfrm>
            <a:off x="838200" y="1662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Results: additional features</a:t>
            </a:r>
          </a:p>
          <a:p>
            <a:r>
              <a:rPr lang="en-US" dirty="0"/>
              <a:t>	nullifying not “price”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0A20A-4218-4FF5-BB96-A5A207490AD1}"/>
              </a:ext>
            </a:extLst>
          </p:cNvPr>
          <p:cNvSpPr txBox="1"/>
          <p:nvPr/>
        </p:nvSpPr>
        <p:spPr>
          <a:xfrm>
            <a:off x="555811" y="1894685"/>
            <a:ext cx="110803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Prioritizing the accuracy for the features specified for optimization (prices only) while encouraging the model to capture relationships between all the features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only price features: 0.2078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use </a:t>
            </a:r>
            <a:r>
              <a:rPr lang="en-US" sz="3200" b="1" dirty="0"/>
              <a:t>all features: 0.2033</a:t>
            </a:r>
          </a:p>
        </p:txBody>
      </p:sp>
    </p:spTree>
    <p:extLst>
      <p:ext uri="{BB962C8B-B14F-4D97-AF65-F5344CB8AC3E}">
        <p14:creationId xmlns:p14="http://schemas.microsoft.com/office/powerpoint/2010/main" val="2488759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Notes | Cyclical learning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3031"/>
          </a:xfrm>
        </p:spPr>
        <p:txBody>
          <a:bodyPr>
            <a:normAutofit/>
          </a:bodyPr>
          <a:lstStyle/>
          <a:p>
            <a:r>
              <a:rPr lang="en-US" dirty="0"/>
              <a:t>During training we used 1cycle policy (cyclical learning rates) introduced by Smith in 2015 to find the optimal learning rate(s).</a:t>
            </a:r>
          </a:p>
          <a:p>
            <a:r>
              <a:rPr lang="en-US" dirty="0"/>
              <a:t>1cycle policy “practically eliminates the need to experimentally find the best values and schedule for the global learning rates”.</a:t>
            </a:r>
          </a:p>
          <a:p>
            <a:r>
              <a:rPr lang="en-US" dirty="0"/>
              <a:t>“Instead of monotonically decreasing the learning rate, this method lets the learning rate cyclically vary between reasonable boundary values” =&gt; “higher learning rates help in coming out of saddle points and the lower learning rates prevents the training from diverging”</a:t>
            </a:r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41533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Notes | Cyclical learning rates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6B0CF-79DC-41ED-BA55-B1735F73F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08" y="1519473"/>
            <a:ext cx="9688277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62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Notes |</a:t>
            </a:r>
            <a:r>
              <a:rPr lang="en-US" dirty="0" err="1"/>
              <a:t>Optuna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6535"/>
            <a:ext cx="10515600" cy="4513031"/>
          </a:xfrm>
        </p:spPr>
        <p:txBody>
          <a:bodyPr>
            <a:normAutofit/>
          </a:bodyPr>
          <a:lstStyle/>
          <a:p>
            <a:r>
              <a:rPr lang="en-US" dirty="0"/>
              <a:t>During training we used </a:t>
            </a:r>
            <a:r>
              <a:rPr lang="en-US" dirty="0" err="1"/>
              <a:t>Optuna</a:t>
            </a:r>
            <a:r>
              <a:rPr lang="en-US" dirty="0"/>
              <a:t> library.</a:t>
            </a:r>
          </a:p>
          <a:p>
            <a:r>
              <a:rPr lang="en-US" dirty="0"/>
              <a:t>It is used for hyperparameter optimization, specifically for automating the search process to find the optimal set of hyperparameters for machine learning models.</a:t>
            </a:r>
          </a:p>
        </p:txBody>
      </p:sp>
      <p:pic>
        <p:nvPicPr>
          <p:cNvPr id="1028" name="Picture 4" descr="Optuna: A hyperparameter optimization framework — Optuna 3.6.1 documentation">
            <a:extLst>
              <a:ext uri="{FF2B5EF4-FFF2-40B4-BE49-F238E27FC236}">
                <a16:creationId xmlns:a16="http://schemas.microsoft.com/office/drawing/2014/main" id="{AC697F2F-C346-49EE-BD7B-BF7EB2C3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257" y="4843956"/>
            <a:ext cx="8958308" cy="188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43480E-0ED2-476D-9C05-DF045702A0D4}"/>
              </a:ext>
            </a:extLst>
          </p:cNvPr>
          <p:cNvSpPr/>
          <p:nvPr/>
        </p:nvSpPr>
        <p:spPr>
          <a:xfrm>
            <a:off x="303320" y="3607780"/>
            <a:ext cx="1158536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Trial 0 finished with value: 3.070014476776123 and parameters: 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{'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n_layers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4,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n_heads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4,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d_model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12,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d_ff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128,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attn_dropout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0.5, 'dropout': 0.0,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patch_len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30,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learning_rate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0.0008668672002100416}. 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Best is trial 0 with value: 3.070014476776123.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90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3031"/>
          </a:xfrm>
        </p:spPr>
        <p:txBody>
          <a:bodyPr>
            <a:normAutofit/>
          </a:bodyPr>
          <a:lstStyle/>
          <a:p>
            <a:r>
              <a:rPr lang="en-US" dirty="0"/>
              <a:t>We discussed the history of time-series forecasting and current state-of-the-art methods.</a:t>
            </a:r>
          </a:p>
          <a:p>
            <a:r>
              <a:rPr lang="en-US" dirty="0"/>
              <a:t>We talked about which data we used and what data preprocessing techniques we applied to the data.</a:t>
            </a:r>
          </a:p>
          <a:p>
            <a:r>
              <a:rPr lang="en-US" dirty="0"/>
              <a:t>We proposed a train / validation splitting technique for time series data, which turned out to be better than the default one.</a:t>
            </a:r>
          </a:p>
          <a:p>
            <a:r>
              <a:rPr lang="en-US" dirty="0"/>
              <a:t>We proposed 3 methods </a:t>
            </a:r>
            <a:r>
              <a:rPr lang="en-US" b="1" dirty="0"/>
              <a:t>to address </a:t>
            </a:r>
            <a:r>
              <a:rPr lang="en-US" dirty="0"/>
              <a:t>the limitations of the existing multivariate time series forecasting Transformer-based models </a:t>
            </a:r>
            <a:r>
              <a:rPr lang="en-US" b="1" dirty="0"/>
              <a:t>and enhance</a:t>
            </a:r>
            <a:r>
              <a:rPr lang="en-US" dirty="0"/>
              <a:t> their performance. Only </a:t>
            </a:r>
            <a:r>
              <a:rPr lang="en-US" b="1" dirty="0"/>
              <a:t>1</a:t>
            </a:r>
            <a:r>
              <a:rPr lang="en-US" dirty="0"/>
              <a:t> of the methods worked, however.</a:t>
            </a:r>
          </a:p>
        </p:txBody>
      </p:sp>
    </p:spTree>
    <p:extLst>
      <p:ext uri="{BB962C8B-B14F-4D97-AF65-F5344CB8AC3E}">
        <p14:creationId xmlns:p14="http://schemas.microsoft.com/office/powerpoint/2010/main" val="526923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Gained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3031"/>
          </a:xfrm>
        </p:spPr>
        <p:txBody>
          <a:bodyPr>
            <a:normAutofit/>
          </a:bodyPr>
          <a:lstStyle/>
          <a:p>
            <a:r>
              <a:rPr lang="en-US" dirty="0"/>
              <a:t>Focus on short-term forecasting: </a:t>
            </a:r>
          </a:p>
          <a:p>
            <a:pPr lvl="1"/>
            <a:r>
              <a:rPr lang="en-US" dirty="0"/>
              <a:t>Predict for only next 1-2 days and punish the model severely if the forecasted direction is wrong.</a:t>
            </a:r>
          </a:p>
          <a:p>
            <a:pPr lvl="1"/>
            <a:r>
              <a:rPr lang="en-US" dirty="0"/>
              <a:t>Fine-tune on hourly data.</a:t>
            </a:r>
          </a:p>
          <a:p>
            <a:r>
              <a:rPr lang="en-US"/>
              <a:t>Is </a:t>
            </a:r>
            <a:r>
              <a:rPr lang="en-US" dirty="0"/>
              <a:t>increasing look-back window really improve the performance of the model? (suggested in the </a:t>
            </a:r>
            <a:r>
              <a:rPr lang="en-US" dirty="0" err="1"/>
              <a:t>PatchTST</a:t>
            </a:r>
            <a:r>
              <a:rPr lang="en-US" dirty="0"/>
              <a:t> paper).</a:t>
            </a:r>
          </a:p>
          <a:p>
            <a:r>
              <a:rPr lang="en-US" dirty="0"/>
              <a:t>Include more technical indicators instead of balance sheets (based on the feature weights given by Random Forest and </a:t>
            </a:r>
            <a:r>
              <a:rPr lang="en-US" dirty="0" err="1"/>
              <a:t>XGBoost</a:t>
            </a:r>
            <a:r>
              <a:rPr lang="en-US" dirty="0"/>
              <a:t> algorithms)</a:t>
            </a:r>
          </a:p>
          <a:p>
            <a:r>
              <a:rPr lang="en-US" dirty="0"/>
              <a:t>Try more complex architectures for higher dimensional data and model ensembles.</a:t>
            </a:r>
          </a:p>
        </p:txBody>
      </p:sp>
    </p:spTree>
    <p:extLst>
      <p:ext uri="{BB962C8B-B14F-4D97-AF65-F5344CB8AC3E}">
        <p14:creationId xmlns:p14="http://schemas.microsoft.com/office/powerpoint/2010/main" val="1122747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423" y="2024109"/>
            <a:ext cx="6883153" cy="1752349"/>
          </a:xfrm>
        </p:spPr>
        <p:txBody>
          <a:bodyPr>
            <a:normAutofit/>
          </a:bodyPr>
          <a:lstStyle/>
          <a:p>
            <a:r>
              <a:rPr lang="en-US" sz="54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14488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423" y="2290439"/>
            <a:ext cx="6883153" cy="1752349"/>
          </a:xfrm>
        </p:spPr>
        <p:txBody>
          <a:bodyPr>
            <a:normAutofit/>
          </a:bodyPr>
          <a:lstStyle/>
          <a:p>
            <a:r>
              <a:rPr lang="en-US" sz="540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237688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1333</Words>
  <Application>Microsoft Office PowerPoint</Application>
  <PresentationFormat>Widescreen</PresentationFormat>
  <Paragraphs>120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Consolas</vt:lpstr>
      <vt:lpstr>Office Theme</vt:lpstr>
      <vt:lpstr>Multivariate Time Series Forecasting with Transformers: Optimizing Prediction Performance</vt:lpstr>
      <vt:lpstr>Outline</vt:lpstr>
      <vt:lpstr>Time series forecasting: History</vt:lpstr>
      <vt:lpstr>Transformers: History</vt:lpstr>
      <vt:lpstr>Transformers: Overview</vt:lpstr>
      <vt:lpstr>Transformers: PatchTST</vt:lpstr>
      <vt:lpstr>Data: quick overview | Definition</vt:lpstr>
      <vt:lpstr>Data: quick overview | Preprocessing</vt:lpstr>
      <vt:lpstr>Data: quick overview | Feature Selection,            Splitting &amp; Scaling</vt:lpstr>
      <vt:lpstr>Train / validation splits:  traditional &amp; our approaches</vt:lpstr>
      <vt:lpstr>Preprocessing for Transformers:   lookback &amp; prediction windows</vt:lpstr>
      <vt:lpstr>Problem with multivariate TSTs:  same input &amp; output feature sets</vt:lpstr>
      <vt:lpstr>Problem with multivariate TSTs :  solution idea 1: Convolutional Autoencoder</vt:lpstr>
      <vt:lpstr>Problem with multivariate TSTs:  solution idea 2: Encoder + TST</vt:lpstr>
      <vt:lpstr>Problem with multivariate TSTs:  solution idea 3: custom loss function</vt:lpstr>
      <vt:lpstr>Results</vt:lpstr>
      <vt:lpstr>Results: default / custom splits</vt:lpstr>
      <vt:lpstr>Results: default split</vt:lpstr>
      <vt:lpstr>Results: custom split</vt:lpstr>
      <vt:lpstr>PowerPoint Presentation</vt:lpstr>
      <vt:lpstr>Results: weighted loss</vt:lpstr>
      <vt:lpstr>Results: weighted loss</vt:lpstr>
      <vt:lpstr>PowerPoint Presentation</vt:lpstr>
      <vt:lpstr>PowerPoint Presentation</vt:lpstr>
      <vt:lpstr>PowerPoint Presentation</vt:lpstr>
      <vt:lpstr>Notes | Cyclical learning rates</vt:lpstr>
      <vt:lpstr>Notes | Cyclical learning rates</vt:lpstr>
      <vt:lpstr>Notes |Optuna</vt:lpstr>
      <vt:lpstr>Recap</vt:lpstr>
      <vt:lpstr>Gained insight</vt:lpstr>
      <vt:lpstr>Demo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 and Validation Techniques for Multivariate Time Series Forecasting with Transformers</dc:title>
  <dc:creator>ztsv</dc:creator>
  <cp:lastModifiedBy>zaitsevav</cp:lastModifiedBy>
  <cp:revision>131</cp:revision>
  <dcterms:created xsi:type="dcterms:W3CDTF">2024-05-16T11:05:33Z</dcterms:created>
  <dcterms:modified xsi:type="dcterms:W3CDTF">2024-05-26T13:46:05Z</dcterms:modified>
</cp:coreProperties>
</file>