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298" r:id="rId3"/>
    <p:sldId id="297" r:id="rId4"/>
    <p:sldId id="257" r:id="rId5"/>
    <p:sldId id="258" r:id="rId6"/>
    <p:sldId id="259" r:id="rId7"/>
    <p:sldId id="296" r:id="rId8"/>
    <p:sldId id="260" r:id="rId9"/>
    <p:sldId id="268" r:id="rId10"/>
    <p:sldId id="262" r:id="rId11"/>
    <p:sldId id="263" r:id="rId12"/>
    <p:sldId id="264" r:id="rId13"/>
    <p:sldId id="265" r:id="rId14"/>
    <p:sldId id="266" r:id="rId15"/>
    <p:sldId id="292" r:id="rId16"/>
    <p:sldId id="270" r:id="rId17"/>
    <p:sldId id="280" r:id="rId18"/>
    <p:sldId id="286" r:id="rId19"/>
    <p:sldId id="287" r:id="rId20"/>
    <p:sldId id="291" r:id="rId21"/>
    <p:sldId id="288" r:id="rId22"/>
    <p:sldId id="285" r:id="rId23"/>
    <p:sldId id="284" r:id="rId24"/>
    <p:sldId id="289" r:id="rId25"/>
    <p:sldId id="293" r:id="rId26"/>
    <p:sldId id="274" r:id="rId27"/>
    <p:sldId id="278" r:id="rId28"/>
    <p:sldId id="277" r:id="rId29"/>
    <p:sldId id="272" r:id="rId30"/>
    <p:sldId id="290" r:id="rId31"/>
    <p:sldId id="294" r:id="rId32"/>
    <p:sldId id="301" r:id="rId33"/>
    <p:sldId id="273" r:id="rId34"/>
    <p:sldId id="299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98A7CF-8A25-4C9B-8330-C8FC8397EEA6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68C031-A194-4789-9B7D-D26EE0D42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18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8C031-A194-4789-9B7D-D26EE0D4202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499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8C031-A194-4789-9B7D-D26EE0D4202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5643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8C031-A194-4789-9B7D-D26EE0D4202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707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68C031-A194-4789-9B7D-D26EE0D4202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130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BAB79-2436-4912-A5E2-38D567F13B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49B67-2188-4E5F-B33E-790F0AF2AB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C82C0-3720-43A9-85CD-BA0C7D823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14C18-F49D-4829-859F-F918EFFD9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E2FA29-DA27-4334-8179-37503D2B0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6082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54EF7-6924-4E03-A248-4F1383C4B4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480B4D-D19A-43A4-9B4E-BB9C45EF00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FEC6B-0079-402E-8508-ABE72F3D4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A7595-A5EE-478B-8B10-D2480352C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9D1CB-6342-4132-8439-4B3F6F0FD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9980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66540-FF38-4C81-9EDC-63AA877FA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343B2F-E06A-4E3B-9750-D875EA7E3D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2F67E-E76B-4A96-8A36-9CD3EE2B8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F6F75-229A-4772-80A8-E5C215AD6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3867F4-86A4-447D-9DC3-B3A150069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43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4249-225E-4C07-8EB3-BF8B233210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DB790E-D01F-4DCC-8AFD-9254E953ED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E3711-54BB-4060-9074-5D0F492816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E1D53-A98B-4B35-B447-868F82BA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BFB494-7425-4D15-A410-31EE3AB0A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713DD4-8096-43A0-99A1-F68809351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253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23E50-4414-46E2-9783-A3667E995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7CA7ED-80D0-4AA6-8AF0-805F91CE92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F41E90-0413-4E0A-80FE-CE8EEBFDB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6D6FC-50F7-4024-8492-EA23108F8E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BA0E59-5D34-425D-AC80-BC02021DD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3167B0-C1AA-459C-86F0-886E13FA2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D4C012-216E-44A5-9820-15EAF6B18F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1F2EB6-5916-433F-871E-AA3204EB7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195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A4EF1-82BA-4820-B76E-531DA68E9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2B976A-346F-40E1-9C63-4128E5062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06EE97-734B-4E32-B048-B94371300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8F6FD4-26E2-4F37-93A6-22DCB28D0B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5281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A780C5-1510-4454-AF39-8DB9FE252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E4447-95BC-45EB-8225-770DAF85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EECB2B-867B-47CB-8F2D-845AB7771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9910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C9EF3-CE5B-47C4-8025-2F106C7D7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F8E4FF-A7DB-4C9A-A6B6-74CECE331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114BB-8AB2-4834-BDDE-DECD3DB8B0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1FC274-CB28-4529-9218-1D801D37F4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AD6674-C5E6-48A5-AB21-093FBF34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C2B52F-1D0C-45AB-847B-15057807A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547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288AC-DB26-4EDA-A52D-11A938C4B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AF3495-542C-4FE6-B916-AEEC3F954F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31AE29-B1E1-4F83-A898-19A44A54C0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E2FE19-F509-43C2-AAF3-578751380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B183E4-AA0E-44AB-B26B-C7D688D20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BA3B89-9E8D-4BB8-8D05-62C167EBA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751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8D031-21EA-4CF7-9EB0-97FCE3CF26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EE5F2-2DB9-4F38-A52A-1871436182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99A4A-544F-4395-9C5B-DD7FF681B3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86585-B7C5-4B42-9DC1-28AEDFD8E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872C4-2CC9-466F-B37A-80897B06D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794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4FD4C4-3FAD-4BB1-AEBB-A1A9777EA2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0442D-42BB-4699-BFE5-AEBF86C741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D6A1E-5E9A-4639-ADD1-231433107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CF3B28-08F0-406D-B4B3-6E6B01DAC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DCA5DB-CF38-46ED-AC4B-84758962D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8597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F378FA-FB1D-4687-A32A-F6086E04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B2FA0E-CF49-4DD5-839B-6C5F40D1D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F8269-86F2-44DC-930A-CD2CE777DB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43019-15D4-4FC2-AC25-FAEE1276D449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6CEC2-5662-4CCF-8FCA-E8F7AEBE1D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6305B-61D3-4F38-AAFB-0934E26635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CB2BCC-C55C-4DA8-B719-90EDA2EC79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697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71EB-1971-4B17-878C-B62A7E048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7157" y="1019997"/>
            <a:ext cx="10037685" cy="3028700"/>
          </a:xfrm>
        </p:spPr>
        <p:txBody>
          <a:bodyPr>
            <a:normAutofit fontScale="90000"/>
          </a:bodyPr>
          <a:lstStyle/>
          <a:p>
            <a:r>
              <a:rPr lang="en-US" dirty="0"/>
              <a:t>Multivariate Time Series Forecasting with Transformers: Optimizing Prediction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CB4B7FF-42AA-49E3-85B7-9B545A7AE1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901448"/>
            <a:ext cx="9144000" cy="1655762"/>
          </a:xfrm>
        </p:spPr>
        <p:txBody>
          <a:bodyPr/>
          <a:lstStyle/>
          <a:p>
            <a:r>
              <a:rPr lang="en-US" dirty="0"/>
              <a:t>Zaitsev, A., </a:t>
            </a:r>
            <a:r>
              <a:rPr lang="en-US" dirty="0" err="1"/>
              <a:t>Mahfoud</a:t>
            </a:r>
            <a:r>
              <a:rPr lang="en-US" dirty="0"/>
              <a:t>, O.</a:t>
            </a:r>
          </a:p>
          <a:p>
            <a:r>
              <a:rPr lang="en-US" dirty="0"/>
              <a:t>University of Luxembourg</a:t>
            </a:r>
          </a:p>
        </p:txBody>
      </p:sp>
    </p:spTree>
    <p:extLst>
      <p:ext uri="{BB962C8B-B14F-4D97-AF65-F5344CB8AC3E}">
        <p14:creationId xmlns:p14="http://schemas.microsoft.com/office/powerpoint/2010/main" val="18338999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91CCA-86BF-4B00-92E8-A9B393770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B80826-2648-494E-8D44-A636EFD47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8021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History of time series forecasting</a:t>
            </a:r>
          </a:p>
          <a:p>
            <a:r>
              <a:rPr lang="en-US" dirty="0"/>
              <a:t>Transformers &amp; </a:t>
            </a:r>
            <a:r>
              <a:rPr lang="en-US" dirty="0" err="1"/>
              <a:t>PatchTST</a:t>
            </a:r>
            <a:endParaRPr lang="en-US" dirty="0"/>
          </a:p>
          <a:p>
            <a:r>
              <a:rPr lang="en-US" dirty="0"/>
              <a:t>Data overview</a:t>
            </a:r>
          </a:p>
          <a:p>
            <a:r>
              <a:rPr lang="en-US" dirty="0"/>
              <a:t>Train / validation splits</a:t>
            </a:r>
          </a:p>
          <a:p>
            <a:r>
              <a:rPr lang="en-US" dirty="0"/>
              <a:t>Problem with multivariate TSTs</a:t>
            </a:r>
          </a:p>
          <a:p>
            <a:r>
              <a:rPr lang="en-US" dirty="0"/>
              <a:t>Results</a:t>
            </a:r>
          </a:p>
          <a:p>
            <a:r>
              <a:rPr lang="en-US" dirty="0"/>
              <a:t>Notes</a:t>
            </a:r>
          </a:p>
          <a:p>
            <a:r>
              <a:rPr lang="en-US" dirty="0"/>
              <a:t>Gained insight</a:t>
            </a:r>
          </a:p>
          <a:p>
            <a:r>
              <a:rPr lang="en-US" dirty="0"/>
              <a:t>Demo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14458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68596-177D-41CB-8AF1-D47BD8560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606" y="1490288"/>
            <a:ext cx="11102788" cy="5002587"/>
          </a:xfrm>
        </p:spPr>
        <p:txBody>
          <a:bodyPr>
            <a:normAutofit/>
          </a:bodyPr>
          <a:lstStyle/>
          <a:p>
            <a:r>
              <a:rPr lang="en-US" sz="2600" b="1" dirty="0"/>
              <a:t>Project Goal: </a:t>
            </a:r>
            <a:r>
              <a:rPr lang="en-US" sz="2600" dirty="0"/>
              <a:t>Explore multivariate time-series forecasting using Transformer-based models to effectively capture spatial and temporal data dependencies.</a:t>
            </a:r>
          </a:p>
          <a:p>
            <a:r>
              <a:rPr lang="en-US" sz="2600" b="1" dirty="0"/>
              <a:t>Current Challenge: </a:t>
            </a:r>
            <a:r>
              <a:rPr lang="en-US" sz="2600" dirty="0" err="1"/>
              <a:t>PatchTST</a:t>
            </a:r>
            <a:r>
              <a:rPr lang="en-US" sz="2600" dirty="0"/>
              <a:t>, the state-of-the-art model, requires that the number of input features match the number of output features.</a:t>
            </a:r>
          </a:p>
          <a:p>
            <a:r>
              <a:rPr lang="en-US" sz="2600" b="1" dirty="0"/>
              <a:t>Proposed Solutions</a:t>
            </a:r>
          </a:p>
          <a:p>
            <a:pPr lvl="1"/>
            <a:r>
              <a:rPr lang="en-US" sz="2200" b="1" dirty="0"/>
              <a:t>Solution 1: </a:t>
            </a:r>
            <a:r>
              <a:rPr lang="en-US" sz="2200" dirty="0"/>
              <a:t>Introduce a Convolutional Autoencoder </a:t>
            </a:r>
          </a:p>
          <a:p>
            <a:pPr lvl="1"/>
            <a:r>
              <a:rPr lang="en-US" sz="2200" b="1" dirty="0"/>
              <a:t>Solution 2: </a:t>
            </a:r>
            <a:r>
              <a:rPr lang="en-US" sz="2200" dirty="0"/>
              <a:t>Enhance </a:t>
            </a:r>
            <a:r>
              <a:rPr lang="en-US" sz="2200" dirty="0" err="1"/>
              <a:t>PatchTST</a:t>
            </a:r>
            <a:r>
              <a:rPr lang="en-US" sz="2200" dirty="0"/>
              <a:t> with an encoder block </a:t>
            </a:r>
          </a:p>
          <a:p>
            <a:pPr lvl="1"/>
            <a:r>
              <a:rPr lang="en-US" sz="2200" b="1" dirty="0"/>
              <a:t>Solution 3: </a:t>
            </a:r>
            <a:r>
              <a:rPr lang="en-US" sz="2200" dirty="0"/>
              <a:t>Custom loss function</a:t>
            </a:r>
          </a:p>
          <a:p>
            <a:r>
              <a:rPr lang="en-US" sz="2600" b="1" dirty="0"/>
              <a:t>Validation Method: </a:t>
            </a:r>
            <a:r>
              <a:rPr lang="en-US" sz="2600" dirty="0"/>
              <a:t>Propose a novel approach to split training and validation data by interspersing small validation batches throughout the timeline, aiming to boost model generalizability.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48E112-2B31-49F5-9DB9-A82BCCA5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Project Overview</a:t>
            </a:r>
          </a:p>
        </p:txBody>
      </p:sp>
    </p:spTree>
    <p:extLst>
      <p:ext uri="{BB962C8B-B14F-4D97-AF65-F5344CB8AC3E}">
        <p14:creationId xmlns:p14="http://schemas.microsoft.com/office/powerpoint/2010/main" val="2592476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68596-177D-41CB-8AF1-D47BD8560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012" y="1807287"/>
            <a:ext cx="11102788" cy="5002587"/>
          </a:xfrm>
        </p:spPr>
        <p:txBody>
          <a:bodyPr>
            <a:normAutofit/>
          </a:bodyPr>
          <a:lstStyle/>
          <a:p>
            <a:r>
              <a:rPr lang="en-US" sz="3000" u="sng" dirty="0"/>
              <a:t>Statistical methods</a:t>
            </a:r>
            <a:r>
              <a:rPr lang="en-US" sz="3000" dirty="0"/>
              <a:t>: AR (1920), ARIMA (1960), VAR (1980).</a:t>
            </a:r>
          </a:p>
          <a:p>
            <a:r>
              <a:rPr lang="en-US" sz="3000" u="sng" dirty="0"/>
              <a:t>Machine learning methods</a:t>
            </a:r>
            <a:r>
              <a:rPr lang="en-US" sz="3000" dirty="0"/>
              <a:t>: Linear Regression and SVMs (1990), Random Forest and Gradient Boosting (2000).</a:t>
            </a:r>
          </a:p>
          <a:p>
            <a:r>
              <a:rPr lang="en-US" sz="3000" u="sng" dirty="0"/>
              <a:t>Deep learning methods</a:t>
            </a:r>
            <a:r>
              <a:rPr lang="en-US" sz="3000" dirty="0"/>
              <a:t>: RNNs (2010s), LSTMs (2010s), GRUs (2010s)</a:t>
            </a:r>
          </a:p>
          <a:p>
            <a:r>
              <a:rPr lang="en-US" sz="3000" u="sng" dirty="0"/>
              <a:t>Transformers</a:t>
            </a:r>
            <a:r>
              <a:rPr lang="en-US" sz="3000" dirty="0"/>
              <a:t>: “Attention is all you need” (2017) =&gt; Transformers for time series forecasting (since 2018).</a:t>
            </a:r>
          </a:p>
          <a:p>
            <a:pPr marL="0" indent="0">
              <a:buNone/>
            </a:pPr>
            <a:endParaRPr lang="en-US" sz="3000" i="1" dirty="0"/>
          </a:p>
          <a:p>
            <a:pPr marL="0" indent="0">
              <a:buNone/>
            </a:pPr>
            <a:r>
              <a:rPr lang="en-US" sz="3000" i="1" dirty="0"/>
              <a:t>Notice the trend: at first trying to handle temporal dependencies, then temporal + spatial dependencies.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248E112-2B31-49F5-9DB9-A82BCCA53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Time series forecasting: History</a:t>
            </a:r>
          </a:p>
        </p:txBody>
      </p:sp>
    </p:spTree>
    <p:extLst>
      <p:ext uri="{BB962C8B-B14F-4D97-AF65-F5344CB8AC3E}">
        <p14:creationId xmlns:p14="http://schemas.microsoft.com/office/powerpoint/2010/main" val="3491143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739E-F2C8-48D8-8D01-3D1FBA0A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History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143EB-E370-4F0F-9F02-EC3FE75F2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05" y="1807695"/>
            <a:ext cx="11084859" cy="4351338"/>
          </a:xfrm>
        </p:spPr>
        <p:txBody>
          <a:bodyPr>
            <a:normAutofit/>
          </a:bodyPr>
          <a:lstStyle/>
          <a:p>
            <a:r>
              <a:rPr lang="en-US" sz="3000" dirty="0"/>
              <a:t>Transformer model introduced by Vaswani et al. (2017) for natural language processing tasks in “Attention is all you need” paper.</a:t>
            </a:r>
          </a:p>
          <a:p>
            <a:r>
              <a:rPr lang="en-US" sz="3000" dirty="0"/>
              <a:t>Researchers adapt the idea for computer vision (Khan et al., 2021), Speech (</a:t>
            </a:r>
            <a:r>
              <a:rPr lang="en-US" sz="3000" dirty="0" err="1"/>
              <a:t>Karita</a:t>
            </a:r>
            <a:r>
              <a:rPr lang="en-US" sz="3000" dirty="0"/>
              <a:t> et al., 2019) tasks.</a:t>
            </a:r>
          </a:p>
          <a:p>
            <a:r>
              <a:rPr lang="en-US" sz="3000" dirty="0"/>
              <a:t>Works well with sequence data! </a:t>
            </a:r>
          </a:p>
          <a:p>
            <a:r>
              <a:rPr lang="en-US" sz="3000" dirty="0"/>
              <a:t>Finally: Transformers in Time Series: A Survey (Wen et al., 2022) – general overview of current use of Transformers for time series data.</a:t>
            </a:r>
          </a:p>
        </p:txBody>
      </p:sp>
    </p:spTree>
    <p:extLst>
      <p:ext uri="{BB962C8B-B14F-4D97-AF65-F5344CB8AC3E}">
        <p14:creationId xmlns:p14="http://schemas.microsoft.com/office/powerpoint/2010/main" val="2322842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739E-F2C8-48D8-8D01-3D1FBA0A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143EB-E370-4F0F-9F02-EC3FE75F2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785" y="1628943"/>
            <a:ext cx="6451050" cy="4863932"/>
          </a:xfrm>
        </p:spPr>
        <p:txBody>
          <a:bodyPr>
            <a:normAutofit/>
          </a:bodyPr>
          <a:lstStyle/>
          <a:p>
            <a:r>
              <a:rPr lang="en-US" sz="3200" dirty="0"/>
              <a:t>Transformers: neural network architecture</a:t>
            </a:r>
          </a:p>
          <a:p>
            <a:r>
              <a:rPr lang="en-US" sz="3200" dirty="0"/>
              <a:t>Processes sequential data. </a:t>
            </a:r>
          </a:p>
          <a:p>
            <a:r>
              <a:rPr lang="en-US" sz="3200" dirty="0"/>
              <a:t>Uses self-attention mechanism to weigh the influence of different parts of the input sequence.</a:t>
            </a:r>
          </a:p>
          <a:p>
            <a:r>
              <a:rPr lang="en-US" sz="3200" dirty="0"/>
              <a:t>Captures long-range dependencies.</a:t>
            </a:r>
          </a:p>
          <a:p>
            <a:r>
              <a:rPr lang="en-US" sz="3200" dirty="0"/>
              <a:t>Efficient for parallel processing. 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2C485E6-6EAB-426B-8ABE-E9DACE2D45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25" y="0"/>
            <a:ext cx="4867275" cy="5811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500B81-CAC3-419F-B5AA-E96819D9F346}"/>
              </a:ext>
            </a:extLst>
          </p:cNvPr>
          <p:cNvSpPr txBox="1"/>
          <p:nvPr/>
        </p:nvSpPr>
        <p:spPr>
          <a:xfrm>
            <a:off x="6972503" y="6031210"/>
            <a:ext cx="47174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Figure 1. Transformer architecture.</a:t>
            </a:r>
            <a:br>
              <a:rPr lang="en-US" dirty="0"/>
            </a:br>
            <a:r>
              <a:rPr lang="en-US" dirty="0"/>
              <a:t>Vaswani et al. “Attention is all you need”. 2017</a:t>
            </a:r>
          </a:p>
        </p:txBody>
      </p:sp>
    </p:spTree>
    <p:extLst>
      <p:ext uri="{BB962C8B-B14F-4D97-AF65-F5344CB8AC3E}">
        <p14:creationId xmlns:p14="http://schemas.microsoft.com/office/powerpoint/2010/main" val="1748053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A739E-F2C8-48D8-8D01-3D1FBA0A6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Transformers: </a:t>
            </a:r>
            <a:r>
              <a:rPr lang="en-US" dirty="0" err="1"/>
              <a:t>PatchTST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63DF97-6D9A-41B5-A096-FBD495885F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5688" y="4047585"/>
            <a:ext cx="9740619" cy="23263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DF735C-6259-4AC8-8B6A-297099189D0D}"/>
              </a:ext>
            </a:extLst>
          </p:cNvPr>
          <p:cNvSpPr txBox="1"/>
          <p:nvPr/>
        </p:nvSpPr>
        <p:spPr>
          <a:xfrm>
            <a:off x="884806" y="1543698"/>
            <a:ext cx="104223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Segmentation of time series into subseries-level patches which serve as input tokens to the Transformer.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Channel-independence where each channel contains a single univariate time series that shares the same embedding and Transformer weights across all the series, i.e. a global univariate model.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D5691-D158-4354-9493-1A22D84B756D}"/>
              </a:ext>
            </a:extLst>
          </p:cNvPr>
          <p:cNvSpPr txBox="1"/>
          <p:nvPr/>
        </p:nvSpPr>
        <p:spPr>
          <a:xfrm>
            <a:off x="1844030" y="6308209"/>
            <a:ext cx="10081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2. </a:t>
            </a:r>
            <a:r>
              <a:rPr lang="en-US" dirty="0" err="1"/>
              <a:t>PatchTST</a:t>
            </a:r>
            <a:r>
              <a:rPr lang="en-US" dirty="0"/>
              <a:t> general idea. </a:t>
            </a:r>
            <a:r>
              <a:rPr lang="en-US" dirty="0" err="1"/>
              <a:t>Nie</a:t>
            </a:r>
            <a:r>
              <a:rPr lang="en-US" dirty="0"/>
              <a:t> et al. “A Time Series is Worth 64 Words: …”. 2022</a:t>
            </a:r>
          </a:p>
        </p:txBody>
      </p:sp>
    </p:spTree>
    <p:extLst>
      <p:ext uri="{BB962C8B-B14F-4D97-AF65-F5344CB8AC3E}">
        <p14:creationId xmlns:p14="http://schemas.microsoft.com/office/powerpoint/2010/main" val="194927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quick overview | Definition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B6AAA-5888-4659-B068-2AFDA5FB34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sz="3000" dirty="0"/>
                  <a:t>Consider model input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en-US" sz="3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3000" dirty="0"/>
                  <a:t>where:</a:t>
                </a:r>
              </a:p>
              <a:p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 </m:t>
                    </m:r>
                  </m:oMath>
                </a14:m>
                <a:r>
                  <a:rPr lang="en-US" sz="3000" dirty="0"/>
                  <a:t>time series of historical daily stock prices.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3000" dirty="0"/>
                  <a:t> balance sheet, income and cashflows statements (</a:t>
                </a:r>
                <a:r>
                  <a:rPr lang="en-US" sz="3000" dirty="0" err="1"/>
                  <a:t>EoQ</a:t>
                </a:r>
                <a:r>
                  <a:rPr lang="en-US" sz="3000" dirty="0"/>
                  <a:t>).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3000" dirty="0"/>
                  <a:t> technical indicators and volumes daily time series.</a:t>
                </a:r>
              </a:p>
              <a:p>
                <a:pPr marL="0" indent="0" algn="just">
                  <a:buNone/>
                </a:pPr>
                <a:r>
                  <a:rPr lang="en-US" sz="2400" i="1" dirty="0"/>
                  <a:t>source: Alphavantage.co API (https://www.alphavantage.co/)</a:t>
                </a:r>
              </a:p>
              <a:p>
                <a:endParaRPr lang="en-US" sz="3000" dirty="0"/>
              </a:p>
              <a:p>
                <a:r>
                  <a:rPr lang="en-US" sz="3000" dirty="0"/>
                  <a:t>Price, technical indicators and volumes data is daily, accounting data is quarterly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Same subset of features for each company.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95B6AAA-5888-4659-B068-2AFDA5FB34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391" t="-3641" b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98109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Data: quick overview | Feature Selection, 						     Splitting &amp; Scaling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5B6AAA-5888-4659-B068-2AFDA5FB3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7709"/>
            <a:ext cx="10515600" cy="4351338"/>
          </a:xfrm>
        </p:spPr>
        <p:txBody>
          <a:bodyPr/>
          <a:lstStyle/>
          <a:p>
            <a:r>
              <a:rPr lang="en-US" sz="3000" dirty="0"/>
              <a:t>We perform feature selection with the help of Random Forest and </a:t>
            </a:r>
            <a:r>
              <a:rPr lang="en-US" sz="3000" dirty="0" err="1"/>
              <a:t>XGBoost</a:t>
            </a:r>
            <a:r>
              <a:rPr lang="en-US" sz="3000" dirty="0"/>
              <a:t> algorithms. We rank the features based on their importance scores towards the price feature (use feature if importance &gt;4%).</a:t>
            </a:r>
          </a:p>
          <a:p>
            <a:r>
              <a:rPr lang="en-US" sz="3000" dirty="0"/>
              <a:t>We find importance scores for each feature for each company =&gt; sum them up and divide by the number of companies we have.</a:t>
            </a:r>
          </a:p>
          <a:p>
            <a:r>
              <a:rPr lang="en-US" sz="3000" dirty="0"/>
              <a:t>Train / validation sets splitting (see “Train / validation splits”).</a:t>
            </a:r>
          </a:p>
          <a:p>
            <a:r>
              <a:rPr lang="en-US" sz="3000" dirty="0"/>
              <a:t>Scaling: standardization (mean 0, std 1).</a:t>
            </a:r>
          </a:p>
        </p:txBody>
      </p:sp>
    </p:spTree>
    <p:extLst>
      <p:ext uri="{BB962C8B-B14F-4D97-AF65-F5344CB8AC3E}">
        <p14:creationId xmlns:p14="http://schemas.microsoft.com/office/powerpoint/2010/main" val="10530144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 / validation splits:</a:t>
            </a:r>
            <a:br>
              <a:rPr lang="en-US" dirty="0"/>
            </a:br>
            <a:r>
              <a:rPr lang="en-US" dirty="0"/>
              <a:t>	traditional &amp; our approaches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69CD22-8834-46D8-B28B-9A6017E16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60366"/>
            <a:ext cx="12192000" cy="24238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8C945C-394F-4005-859A-611E439B8E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52325"/>
            <a:ext cx="12192000" cy="223974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A38711-7239-489E-93AA-EF148D0F8C26}"/>
              </a:ext>
            </a:extLst>
          </p:cNvPr>
          <p:cNvSpPr txBox="1"/>
          <p:nvPr/>
        </p:nvSpPr>
        <p:spPr>
          <a:xfrm>
            <a:off x="3158709" y="6352555"/>
            <a:ext cx="7419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3. Traditional and our train / validation split methods </a:t>
            </a:r>
          </a:p>
        </p:txBody>
      </p:sp>
    </p:spTree>
    <p:extLst>
      <p:ext uri="{BB962C8B-B14F-4D97-AF65-F5344CB8AC3E}">
        <p14:creationId xmlns:p14="http://schemas.microsoft.com/office/powerpoint/2010/main" val="4063258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for Transformers: </a:t>
            </a:r>
            <a:br>
              <a:rPr lang="en-US" dirty="0"/>
            </a:br>
            <a:r>
              <a:rPr lang="en-US" dirty="0"/>
              <a:t>	lookback &amp; prediction windows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146603-6681-44C9-85E1-5DFC98BF20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129" y="1837765"/>
            <a:ext cx="11071412" cy="437741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8ADCF63-32F7-4C87-B3DE-EB2E64C88CA1}"/>
              </a:ext>
            </a:extLst>
          </p:cNvPr>
          <p:cNvSpPr txBox="1"/>
          <p:nvPr/>
        </p:nvSpPr>
        <p:spPr>
          <a:xfrm>
            <a:off x="5700117" y="5848489"/>
            <a:ext cx="4793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60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9D73AD-DE03-4380-AB9F-87F67F87E7C4}"/>
              </a:ext>
            </a:extLst>
          </p:cNvPr>
          <p:cNvSpPr txBox="1"/>
          <p:nvPr/>
        </p:nvSpPr>
        <p:spPr>
          <a:xfrm>
            <a:off x="7778972" y="5860094"/>
            <a:ext cx="4793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5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356656-47C6-49A7-B65A-51E571DD9B23}"/>
              </a:ext>
            </a:extLst>
          </p:cNvPr>
          <p:cNvSpPr txBox="1"/>
          <p:nvPr/>
        </p:nvSpPr>
        <p:spPr>
          <a:xfrm>
            <a:off x="2410635" y="6350610"/>
            <a:ext cx="7537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4. Sliding window data preprocessing approach for </a:t>
            </a:r>
            <a:r>
              <a:rPr lang="en-US" dirty="0" err="1"/>
              <a:t>PatchTST</a:t>
            </a:r>
            <a:r>
              <a:rPr lang="en-US" dirty="0"/>
              <a:t> network</a:t>
            </a:r>
          </a:p>
        </p:txBody>
      </p:sp>
    </p:spTree>
    <p:extLst>
      <p:ext uri="{BB962C8B-B14F-4D97-AF65-F5344CB8AC3E}">
        <p14:creationId xmlns:p14="http://schemas.microsoft.com/office/powerpoint/2010/main" val="2238489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C7B51E81-B2F1-46CF-8A4D-08DC43B0C50F}"/>
              </a:ext>
            </a:extLst>
          </p:cNvPr>
          <p:cNvSpPr/>
          <p:nvPr/>
        </p:nvSpPr>
        <p:spPr>
          <a:xfrm>
            <a:off x="443752" y="3429000"/>
            <a:ext cx="5199529" cy="3366245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multivariate TSTs:</a:t>
            </a:r>
            <a:br>
              <a:rPr lang="en-US" dirty="0"/>
            </a:br>
            <a:r>
              <a:rPr lang="en-US" dirty="0"/>
              <a:t>	same input &amp; output feature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Transformers require same input &amp; output feature sets, limiting flexibility in predicting fixed features while incorporating broader input, restricting ability to leverage richer input for improved accuracy.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9FCBB6C-3925-4315-A566-72C4E9B53B3B}"/>
              </a:ext>
            </a:extLst>
          </p:cNvPr>
          <p:cNvSpPr/>
          <p:nvPr/>
        </p:nvSpPr>
        <p:spPr>
          <a:xfrm>
            <a:off x="8095130" y="3738565"/>
            <a:ext cx="3258670" cy="2438398"/>
          </a:xfrm>
          <a:prstGeom prst="ellipse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3B24437E-8361-4AEB-B0F6-713544AABC9B}"/>
              </a:ext>
            </a:extLst>
          </p:cNvPr>
          <p:cNvSpPr/>
          <p:nvPr/>
        </p:nvSpPr>
        <p:spPr>
          <a:xfrm>
            <a:off x="5862918" y="4661647"/>
            <a:ext cx="2034988" cy="618565"/>
          </a:xfrm>
          <a:prstGeom prst="rightArrow">
            <a:avLst/>
          </a:prstGeom>
          <a:noFill/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1A1F256F-BFA6-4998-99C1-930ABB5EE893}"/>
              </a:ext>
            </a:extLst>
          </p:cNvPr>
          <p:cNvSpPr/>
          <p:nvPr/>
        </p:nvSpPr>
        <p:spPr>
          <a:xfrm>
            <a:off x="5916706" y="3904129"/>
            <a:ext cx="1721223" cy="2133600"/>
          </a:xfrm>
          <a:prstGeom prst="mathMultiply">
            <a:avLst/>
          </a:prstGeom>
          <a:solidFill>
            <a:srgbClr val="C00000"/>
          </a:solidFill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CF94D-6A8A-46A1-B9F1-FBE962745B5A}"/>
              </a:ext>
            </a:extLst>
          </p:cNvPr>
          <p:cNvSpPr txBox="1"/>
          <p:nvPr/>
        </p:nvSpPr>
        <p:spPr>
          <a:xfrm>
            <a:off x="9179860" y="4600952"/>
            <a:ext cx="1515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PRICE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0E733E-9A86-4442-96C8-A4C62B33C5AA}"/>
              </a:ext>
            </a:extLst>
          </p:cNvPr>
          <p:cNvSpPr txBox="1"/>
          <p:nvPr/>
        </p:nvSpPr>
        <p:spPr>
          <a:xfrm>
            <a:off x="1138519" y="3939877"/>
            <a:ext cx="411928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RSI, Assets, Inventory, Volume, Goodwill, Real Upper Band, Estimated EPS, Total Revenue, …</a:t>
            </a:r>
          </a:p>
        </p:txBody>
      </p:sp>
    </p:spTree>
    <p:extLst>
      <p:ext uri="{BB962C8B-B14F-4D97-AF65-F5344CB8AC3E}">
        <p14:creationId xmlns:p14="http://schemas.microsoft.com/office/powerpoint/2010/main" val="2121439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3E4A8A5-7F68-4D72-B23D-AE82B89EE2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627" y="3429001"/>
            <a:ext cx="11462501" cy="28731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Problem with multivariate TSTs :</a:t>
            </a:r>
            <a:br>
              <a:rPr lang="en-US" dirty="0"/>
            </a:br>
            <a:r>
              <a:rPr lang="en-US" dirty="0"/>
              <a:t>	solution idea 1: Convolutional Autoencoder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20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Train separate Convolutional Autoencoder model and use the encoder portion to extract a latent representation of the input data with a lower dimensionality compatible with the output dimensionality.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4AB1EF-C8F8-4CEB-B934-876F5103911B}"/>
              </a:ext>
            </a:extLst>
          </p:cNvPr>
          <p:cNvSpPr txBox="1"/>
          <p:nvPr/>
        </p:nvSpPr>
        <p:spPr>
          <a:xfrm>
            <a:off x="3574001" y="6308209"/>
            <a:ext cx="50439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5. Convolutional autoencoder architecture</a:t>
            </a:r>
          </a:p>
        </p:txBody>
      </p:sp>
    </p:spTree>
    <p:extLst>
      <p:ext uri="{BB962C8B-B14F-4D97-AF65-F5344CB8AC3E}">
        <p14:creationId xmlns:p14="http://schemas.microsoft.com/office/powerpoint/2010/main" val="28849464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3C24332-2611-49B0-9955-31BBE07566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77913"/>
            <a:ext cx="12192000" cy="36132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multivariate TSTs:</a:t>
            </a:r>
            <a:br>
              <a:rPr lang="en-US" dirty="0"/>
            </a:br>
            <a:r>
              <a:rPr lang="en-US" dirty="0"/>
              <a:t>	solution idea 2: Encoder + TST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2120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Integrate an encoder block directly into the Transformer architecture as the initial layers, so that the model can learn itself how to transform given data into a lower dimensional representation.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BB5B85-493E-42B1-80D6-F60084943DE2}"/>
              </a:ext>
            </a:extLst>
          </p:cNvPr>
          <p:cNvSpPr txBox="1"/>
          <p:nvPr/>
        </p:nvSpPr>
        <p:spPr>
          <a:xfrm>
            <a:off x="549979" y="6123543"/>
            <a:ext cx="365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6. Encoder + TST architecture</a:t>
            </a:r>
          </a:p>
        </p:txBody>
      </p:sp>
    </p:spTree>
    <p:extLst>
      <p:ext uri="{BB962C8B-B14F-4D97-AF65-F5344CB8AC3E}">
        <p14:creationId xmlns:p14="http://schemas.microsoft.com/office/powerpoint/2010/main" val="346573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295" y="0"/>
            <a:ext cx="10515600" cy="1325563"/>
          </a:xfrm>
        </p:spPr>
        <p:txBody>
          <a:bodyPr/>
          <a:lstStyle/>
          <a:p>
            <a:r>
              <a:rPr lang="en-US" dirty="0"/>
              <a:t>Problem with multivariate TSTs:</a:t>
            </a:r>
            <a:br>
              <a:rPr lang="en-US" dirty="0"/>
            </a:br>
            <a:r>
              <a:rPr lang="en-US" dirty="0"/>
              <a:t>	solution idea 3: custom loss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15" y="1308267"/>
            <a:ext cx="10515600" cy="21207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000" dirty="0"/>
              <a:t>Use all data during training, but </a:t>
            </a:r>
            <a:r>
              <a:rPr lang="en-US" sz="3000" b="1" dirty="0"/>
              <a:t>nullify</a:t>
            </a:r>
            <a:r>
              <a:rPr lang="en-US" sz="3000" dirty="0"/>
              <a:t> all features except “price” features in the </a:t>
            </a:r>
            <a:r>
              <a:rPr lang="en-US" sz="3000" b="1" dirty="0"/>
              <a:t>loss function </a:t>
            </a:r>
            <a:r>
              <a:rPr lang="en-US" sz="3000" dirty="0"/>
              <a:t>by setting their weights to zero, ensuring they do not contribute to the loss calculation.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811B70-208D-4BAE-97AE-5016BB7D7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322" y="2633830"/>
            <a:ext cx="10374173" cy="37042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20F8392-DB7A-4C7E-9F8B-95102C7A59A0}"/>
              </a:ext>
            </a:extLst>
          </p:cNvPr>
          <p:cNvSpPr txBox="1"/>
          <p:nvPr/>
        </p:nvSpPr>
        <p:spPr>
          <a:xfrm>
            <a:off x="3984681" y="6410414"/>
            <a:ext cx="36544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7. Custom loss function</a:t>
            </a:r>
          </a:p>
        </p:txBody>
      </p:sp>
    </p:spTree>
    <p:extLst>
      <p:ext uri="{BB962C8B-B14F-4D97-AF65-F5344CB8AC3E}">
        <p14:creationId xmlns:p14="http://schemas.microsoft.com/office/powerpoint/2010/main" val="245013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71EB-1971-4B17-878C-B62A7E048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49553" y="2975999"/>
            <a:ext cx="2692893" cy="906001"/>
          </a:xfrm>
        </p:spPr>
        <p:txBody>
          <a:bodyPr>
            <a:normAutofit fontScale="90000"/>
          </a:bodyPr>
          <a:lstStyle/>
          <a:p>
            <a:r>
              <a:rPr lang="en-US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1630797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default / custom splits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B1F42-7F25-4E18-A7C7-C24AE1BD9EFC}"/>
              </a:ext>
            </a:extLst>
          </p:cNvPr>
          <p:cNvSpPr txBox="1"/>
          <p:nvPr/>
        </p:nvSpPr>
        <p:spPr>
          <a:xfrm>
            <a:off x="555811" y="1876930"/>
            <a:ext cx="110803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Results are best on the test set that the model has never seen before. We used the same model architecture for all results. Best model architecture was found for </a:t>
            </a:r>
            <a:r>
              <a:rPr lang="en-US" sz="3200" i="1" dirty="0"/>
              <a:t>default</a:t>
            </a:r>
            <a:r>
              <a:rPr lang="en-US" sz="3200" dirty="0"/>
              <a:t> split using </a:t>
            </a:r>
            <a:r>
              <a:rPr lang="en-US" sz="3200" dirty="0" err="1"/>
              <a:t>Optuna</a:t>
            </a:r>
            <a:r>
              <a:rPr lang="en-US" sz="32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Default split: 0.5162 (MAE)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/>
              <a:t>Custom</a:t>
            </a:r>
            <a:r>
              <a:rPr lang="en-US" sz="3200" dirty="0"/>
              <a:t> split: </a:t>
            </a:r>
            <a:r>
              <a:rPr lang="en-US" sz="3200" b="1" dirty="0"/>
              <a:t>0.2078 </a:t>
            </a:r>
            <a:r>
              <a:rPr lang="en-US" sz="3200" dirty="0"/>
              <a:t>(MAE)</a:t>
            </a:r>
          </a:p>
        </p:txBody>
      </p:sp>
    </p:spTree>
    <p:extLst>
      <p:ext uri="{BB962C8B-B14F-4D97-AF65-F5344CB8AC3E}">
        <p14:creationId xmlns:p14="http://schemas.microsoft.com/office/powerpoint/2010/main" val="37471875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6492398-93A6-46E7-8288-9FD1F43ED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18" y="142042"/>
            <a:ext cx="10515600" cy="1041478"/>
          </a:xfrm>
        </p:spPr>
        <p:txBody>
          <a:bodyPr/>
          <a:lstStyle/>
          <a:p>
            <a:r>
              <a:rPr lang="en-US" dirty="0"/>
              <a:t>Results: default vs custom split (1 day)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FBDC9D-7960-4C2E-ADBB-3358E9412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94" y="1029211"/>
            <a:ext cx="11425411" cy="264975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3B479B8-4849-1A78-45C3-949A8575EC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294" y="3851343"/>
            <a:ext cx="11356535" cy="240502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D8D51A-39A3-429B-8823-FB1A65A05452}"/>
              </a:ext>
            </a:extLst>
          </p:cNvPr>
          <p:cNvSpPr txBox="1"/>
          <p:nvPr/>
        </p:nvSpPr>
        <p:spPr>
          <a:xfrm>
            <a:off x="1161477" y="6256363"/>
            <a:ext cx="1057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8. Model performance trained on the default and custom splits results on the test set (1 day prediction)</a:t>
            </a:r>
          </a:p>
        </p:txBody>
      </p:sp>
    </p:spTree>
    <p:extLst>
      <p:ext uri="{BB962C8B-B14F-4D97-AF65-F5344CB8AC3E}">
        <p14:creationId xmlns:p14="http://schemas.microsoft.com/office/powerpoint/2010/main" val="1813882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55A833-27F2-4B7A-9BB6-0BA501642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447" y="3812660"/>
            <a:ext cx="10715104" cy="2617793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D5BED02-421E-4732-B34C-8596588EDB06}"/>
              </a:ext>
            </a:extLst>
          </p:cNvPr>
          <p:cNvSpPr/>
          <p:nvPr/>
        </p:nvSpPr>
        <p:spPr>
          <a:xfrm>
            <a:off x="9003058" y="4525539"/>
            <a:ext cx="672635" cy="64096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C5CDFBB-10B1-44CA-B097-D8789DBE5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18" y="142042"/>
            <a:ext cx="10515600" cy="1041478"/>
          </a:xfrm>
        </p:spPr>
        <p:txBody>
          <a:bodyPr/>
          <a:lstStyle/>
          <a:p>
            <a:r>
              <a:rPr lang="en-US" dirty="0"/>
              <a:t>Results: default vs custom split (5 days)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68859-1DB2-9505-334F-402A60F88B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899" y="996956"/>
            <a:ext cx="10948201" cy="2699925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121BD178-9BAA-550D-0C9A-55A8B6A4C34C}"/>
              </a:ext>
            </a:extLst>
          </p:cNvPr>
          <p:cNvSpPr/>
          <p:nvPr/>
        </p:nvSpPr>
        <p:spPr>
          <a:xfrm>
            <a:off x="8886510" y="1863066"/>
            <a:ext cx="672635" cy="64096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C56850F-5C09-D6D5-5614-ADD5CE40A21C}"/>
              </a:ext>
            </a:extLst>
          </p:cNvPr>
          <p:cNvSpPr/>
          <p:nvPr/>
        </p:nvSpPr>
        <p:spPr>
          <a:xfrm>
            <a:off x="10228305" y="1222099"/>
            <a:ext cx="672635" cy="64096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433482-C7E4-AB6D-69BC-4289EECAA094}"/>
              </a:ext>
            </a:extLst>
          </p:cNvPr>
          <p:cNvSpPr/>
          <p:nvPr/>
        </p:nvSpPr>
        <p:spPr>
          <a:xfrm>
            <a:off x="10228305" y="4040552"/>
            <a:ext cx="672635" cy="640967"/>
          </a:xfrm>
          <a:prstGeom prst="ellipse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9563A98-DF8B-4027-82E2-111B110A1520}"/>
              </a:ext>
            </a:extLst>
          </p:cNvPr>
          <p:cNvSpPr txBox="1"/>
          <p:nvPr/>
        </p:nvSpPr>
        <p:spPr>
          <a:xfrm>
            <a:off x="1152512" y="6346626"/>
            <a:ext cx="1057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9. Model performance trained on the default and custom splits results on the test set (5 day prediction)</a:t>
            </a:r>
          </a:p>
        </p:txBody>
      </p:sp>
    </p:spTree>
    <p:extLst>
      <p:ext uri="{BB962C8B-B14F-4D97-AF65-F5344CB8AC3E}">
        <p14:creationId xmlns:p14="http://schemas.microsoft.com/office/powerpoint/2010/main" val="355802643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C54241-7A18-4769-ADCC-C88A038A3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621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1F1CB8-BA3B-460C-9215-8EE8CD8B0511}"/>
              </a:ext>
            </a:extLst>
          </p:cNvPr>
          <p:cNvSpPr txBox="1"/>
          <p:nvPr/>
        </p:nvSpPr>
        <p:spPr>
          <a:xfrm>
            <a:off x="4075007" y="6488668"/>
            <a:ext cx="38497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10. Actual output of the model</a:t>
            </a:r>
          </a:p>
        </p:txBody>
      </p:sp>
    </p:spTree>
    <p:extLst>
      <p:ext uri="{BB962C8B-B14F-4D97-AF65-F5344CB8AC3E}">
        <p14:creationId xmlns:p14="http://schemas.microsoft.com/office/powerpoint/2010/main" val="15551167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 weighted loss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2B1F42-7F25-4E18-A7C7-C24AE1BD9EFC}"/>
              </a:ext>
            </a:extLst>
          </p:cNvPr>
          <p:cNvSpPr txBox="1"/>
          <p:nvPr/>
        </p:nvSpPr>
        <p:spPr>
          <a:xfrm>
            <a:off x="681143" y="1560188"/>
            <a:ext cx="1108037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Issue: bad forecasting for later days (which makes sense, since data becomes more and more random).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Possible solution: add weights in loss function.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Weights: [0.5, 1, 1.5, 2, 2.5].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Custom split, no weights: 0.2078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Custom split, weighted: </a:t>
            </a:r>
            <a:r>
              <a:rPr lang="en-US" sz="3200" b="1" dirty="0"/>
              <a:t>0.2113</a:t>
            </a:r>
          </a:p>
        </p:txBody>
      </p:sp>
    </p:spTree>
    <p:extLst>
      <p:ext uri="{BB962C8B-B14F-4D97-AF65-F5344CB8AC3E}">
        <p14:creationId xmlns:p14="http://schemas.microsoft.com/office/powerpoint/2010/main" val="16173704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DC9B9E1F-181B-4B70-A0C0-8F71019F52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42" y="3573541"/>
            <a:ext cx="10434918" cy="277621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5861910-5C12-4CF4-B5D3-F7AAB5F27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141" y="1000628"/>
            <a:ext cx="10515599" cy="257628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7C725D-351A-40BF-BC49-4652405243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418" y="142042"/>
            <a:ext cx="10515600" cy="1041478"/>
          </a:xfrm>
        </p:spPr>
        <p:txBody>
          <a:bodyPr/>
          <a:lstStyle/>
          <a:p>
            <a:r>
              <a:rPr lang="en-US" dirty="0"/>
              <a:t>Results: weighted loss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4DD05BB-208E-44FA-81B0-D82DD97545D8}"/>
              </a:ext>
            </a:extLst>
          </p:cNvPr>
          <p:cNvSpPr/>
          <p:nvPr/>
        </p:nvSpPr>
        <p:spPr>
          <a:xfrm>
            <a:off x="10114582" y="3815307"/>
            <a:ext cx="772357" cy="5519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477F0D-2048-4F2D-A06E-CD6CA3FC0CCE}"/>
              </a:ext>
            </a:extLst>
          </p:cNvPr>
          <p:cNvSpPr/>
          <p:nvPr/>
        </p:nvSpPr>
        <p:spPr>
          <a:xfrm>
            <a:off x="2809522" y="4784215"/>
            <a:ext cx="772357" cy="5519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28EBA17-1EA9-4C30-9D62-C3DA921E85A8}"/>
              </a:ext>
            </a:extLst>
          </p:cNvPr>
          <p:cNvSpPr/>
          <p:nvPr/>
        </p:nvSpPr>
        <p:spPr>
          <a:xfrm>
            <a:off x="10187499" y="1183520"/>
            <a:ext cx="772357" cy="5519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07397C-6729-4C2F-AADC-C5977241EBCE}"/>
              </a:ext>
            </a:extLst>
          </p:cNvPr>
          <p:cNvSpPr txBox="1"/>
          <p:nvPr/>
        </p:nvSpPr>
        <p:spPr>
          <a:xfrm>
            <a:off x="1192306" y="6346626"/>
            <a:ext cx="10578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11. Comparison in model performance without weighted loss vs with weighted loss (5 day prediction)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384542D-C3AC-490C-AF46-0518FF33AD61}"/>
              </a:ext>
            </a:extLst>
          </p:cNvPr>
          <p:cNvSpPr/>
          <p:nvPr/>
        </p:nvSpPr>
        <p:spPr>
          <a:xfrm>
            <a:off x="2890204" y="2090044"/>
            <a:ext cx="772357" cy="551909"/>
          </a:xfrm>
          <a:prstGeom prst="ellipse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0277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ACA3026-4B6B-477C-B5A1-80CFE33B5E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635" y="2869063"/>
            <a:ext cx="7481003" cy="35317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0486D43-1CC8-4121-A4D4-BD1B462DCD86}"/>
              </a:ext>
            </a:extLst>
          </p:cNvPr>
          <p:cNvSpPr txBox="1"/>
          <p:nvPr/>
        </p:nvSpPr>
        <p:spPr>
          <a:xfrm>
            <a:off x="174594" y="1407719"/>
            <a:ext cx="1184281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Result: no convergence, the model is not able to learn how to properly represent data in the lower dimensional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We tried adding skip connections, more encoding/decoding layers, FC layers.</a:t>
            </a:r>
          </a:p>
          <a:p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F73C375-57C1-42C4-8E78-8144B448726C}"/>
              </a:ext>
            </a:extLst>
          </p:cNvPr>
          <p:cNvSpPr txBox="1">
            <a:spLocks/>
          </p:cNvSpPr>
          <p:nvPr/>
        </p:nvSpPr>
        <p:spPr>
          <a:xfrm>
            <a:off x="838200" y="1662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Results: additional features</a:t>
            </a:r>
          </a:p>
          <a:p>
            <a:r>
              <a:rPr lang="en-US" dirty="0"/>
              <a:t>	separate Autoencoder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AFE8E-8BB1-4E7B-8009-44312A0239E4}"/>
              </a:ext>
            </a:extLst>
          </p:cNvPr>
          <p:cNvSpPr txBox="1"/>
          <p:nvPr/>
        </p:nvSpPr>
        <p:spPr>
          <a:xfrm>
            <a:off x="4276164" y="6400800"/>
            <a:ext cx="396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12. Autoencoder training results</a:t>
            </a:r>
          </a:p>
        </p:txBody>
      </p:sp>
    </p:spTree>
    <p:extLst>
      <p:ext uri="{BB962C8B-B14F-4D97-AF65-F5344CB8AC3E}">
        <p14:creationId xmlns:p14="http://schemas.microsoft.com/office/powerpoint/2010/main" val="25925973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73C375-57C1-42C4-8E78-8144B448726C}"/>
              </a:ext>
            </a:extLst>
          </p:cNvPr>
          <p:cNvSpPr txBox="1">
            <a:spLocks/>
          </p:cNvSpPr>
          <p:nvPr/>
        </p:nvSpPr>
        <p:spPr>
          <a:xfrm>
            <a:off x="838200" y="1662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Results: additional features</a:t>
            </a:r>
          </a:p>
          <a:p>
            <a:r>
              <a:rPr lang="en-US" dirty="0"/>
              <a:t>	Encoder + TST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22C65B1-C357-44D0-8732-D3A4F7009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890" y="2384612"/>
            <a:ext cx="9100653" cy="399008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C874C8B-0DE7-4114-9C1F-2628A949925A}"/>
              </a:ext>
            </a:extLst>
          </p:cNvPr>
          <p:cNvSpPr txBox="1"/>
          <p:nvPr/>
        </p:nvSpPr>
        <p:spPr>
          <a:xfrm>
            <a:off x="174594" y="1638539"/>
            <a:ext cx="1184281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No convergence. It is hard for the model to make predictions based on the encoded data.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A5784A-0B64-42E6-8C3F-D5C0DF827831}"/>
              </a:ext>
            </a:extLst>
          </p:cNvPr>
          <p:cNvSpPr txBox="1"/>
          <p:nvPr/>
        </p:nvSpPr>
        <p:spPr>
          <a:xfrm>
            <a:off x="4114799" y="6444633"/>
            <a:ext cx="468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13. Encoder + </a:t>
            </a:r>
            <a:r>
              <a:rPr lang="en-US" dirty="0" err="1"/>
              <a:t>PatchTST</a:t>
            </a:r>
            <a:r>
              <a:rPr lang="en-US" dirty="0"/>
              <a:t> training results</a:t>
            </a:r>
          </a:p>
        </p:txBody>
      </p:sp>
    </p:spTree>
    <p:extLst>
      <p:ext uri="{BB962C8B-B14F-4D97-AF65-F5344CB8AC3E}">
        <p14:creationId xmlns:p14="http://schemas.microsoft.com/office/powerpoint/2010/main" val="126364848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F73C375-57C1-42C4-8E78-8144B448726C}"/>
              </a:ext>
            </a:extLst>
          </p:cNvPr>
          <p:cNvSpPr txBox="1">
            <a:spLocks/>
          </p:cNvSpPr>
          <p:nvPr/>
        </p:nvSpPr>
        <p:spPr>
          <a:xfrm>
            <a:off x="838200" y="166264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Results: additional features</a:t>
            </a:r>
          </a:p>
          <a:p>
            <a:r>
              <a:rPr lang="en-US" dirty="0"/>
              <a:t>	nullifying not “price” features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70A20A-4218-4FF5-BB96-A5A207490AD1}"/>
              </a:ext>
            </a:extLst>
          </p:cNvPr>
          <p:cNvSpPr txBox="1"/>
          <p:nvPr/>
        </p:nvSpPr>
        <p:spPr>
          <a:xfrm>
            <a:off x="555811" y="1894685"/>
            <a:ext cx="1108037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Prioritizing the accuracy for the features specified for optimization (prices only) while encouraging the model to capture relationships between all the features in the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Custom split, only price features: 0.2078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Custom split, use </a:t>
            </a:r>
            <a:r>
              <a:rPr lang="en-US" sz="3200" b="1" dirty="0"/>
              <a:t>all features: 0.2033</a:t>
            </a:r>
          </a:p>
        </p:txBody>
      </p:sp>
    </p:spTree>
    <p:extLst>
      <p:ext uri="{BB962C8B-B14F-4D97-AF65-F5344CB8AC3E}">
        <p14:creationId xmlns:p14="http://schemas.microsoft.com/office/powerpoint/2010/main" val="24887595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Notes | Cyclical learning 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13031"/>
          </a:xfrm>
        </p:spPr>
        <p:txBody>
          <a:bodyPr>
            <a:normAutofit/>
          </a:bodyPr>
          <a:lstStyle/>
          <a:p>
            <a:r>
              <a:rPr lang="en-US" sz="3000" dirty="0"/>
              <a:t>During training we used 1cycle policy (cyclical learning rates) introduced by Smith in 2015 to find the optimal learning rate(s).</a:t>
            </a:r>
          </a:p>
          <a:p>
            <a:r>
              <a:rPr lang="en-US" sz="3000" dirty="0"/>
              <a:t>1cycle policy “practically eliminates the need to experimentally find the best values and schedule for the global learning rates”.</a:t>
            </a:r>
          </a:p>
          <a:p>
            <a:r>
              <a:rPr lang="en-US" sz="3000" dirty="0"/>
              <a:t>“Instead of monotonically decreasing the learning rate, this method lets the learning rate cyclically vary between reasonable boundary values” =&gt; “higher learning rates help in coming out of saddle points and the lower learning rates prevents the training from diverging”</a:t>
            </a:r>
          </a:p>
          <a:p>
            <a:pPr marL="0" indent="0" algn="just">
              <a:buNone/>
            </a:pPr>
            <a:endParaRPr lang="en-US" sz="3000" dirty="0"/>
          </a:p>
        </p:txBody>
      </p:sp>
    </p:spTree>
    <p:extLst>
      <p:ext uri="{BB962C8B-B14F-4D97-AF65-F5344CB8AC3E}">
        <p14:creationId xmlns:p14="http://schemas.microsoft.com/office/powerpoint/2010/main" val="10415332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Notes | Cyclical learning rates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6B0CF-79DC-41ED-BA55-B1735F73F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408" y="1519473"/>
            <a:ext cx="9688277" cy="477375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59D4981-285F-4971-9C45-21E2C056E488}"/>
              </a:ext>
            </a:extLst>
          </p:cNvPr>
          <p:cNvSpPr txBox="1"/>
          <p:nvPr/>
        </p:nvSpPr>
        <p:spPr>
          <a:xfrm>
            <a:off x="4132729" y="6390845"/>
            <a:ext cx="46885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14. Cyclical learning rates example</a:t>
            </a:r>
          </a:p>
        </p:txBody>
      </p:sp>
    </p:spTree>
    <p:extLst>
      <p:ext uri="{BB962C8B-B14F-4D97-AF65-F5344CB8AC3E}">
        <p14:creationId xmlns:p14="http://schemas.microsoft.com/office/powerpoint/2010/main" val="40631624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/>
              <a:t>Notes |</a:t>
            </a:r>
            <a:r>
              <a:rPr lang="en-US" dirty="0" err="1"/>
              <a:t>Optuna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84488"/>
            <a:ext cx="10515600" cy="4513031"/>
          </a:xfrm>
        </p:spPr>
        <p:txBody>
          <a:bodyPr>
            <a:normAutofit/>
          </a:bodyPr>
          <a:lstStyle/>
          <a:p>
            <a:r>
              <a:rPr lang="en-US" dirty="0"/>
              <a:t>During training we used </a:t>
            </a:r>
            <a:r>
              <a:rPr lang="en-US" dirty="0" err="1"/>
              <a:t>Optuna</a:t>
            </a:r>
            <a:r>
              <a:rPr lang="en-US" dirty="0"/>
              <a:t> library.</a:t>
            </a:r>
          </a:p>
          <a:p>
            <a:r>
              <a:rPr lang="en-US" dirty="0"/>
              <a:t>It is used for hyperparameter optimization, specifically for automating the search process to find the optimal set of hyperparameters for machine learning models.</a:t>
            </a:r>
          </a:p>
        </p:txBody>
      </p:sp>
      <p:pic>
        <p:nvPicPr>
          <p:cNvPr id="1028" name="Picture 4" descr="Optuna: A hyperparameter optimization framework — Optuna 3.6.1 documentation">
            <a:extLst>
              <a:ext uri="{FF2B5EF4-FFF2-40B4-BE49-F238E27FC236}">
                <a16:creationId xmlns:a16="http://schemas.microsoft.com/office/drawing/2014/main" id="{AC697F2F-C346-49EE-BD7B-BF7EB2C3D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6010" y="4611630"/>
            <a:ext cx="8958308" cy="1881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843480E-0ED2-476D-9C05-DF045702A0D4}"/>
              </a:ext>
            </a:extLst>
          </p:cNvPr>
          <p:cNvSpPr/>
          <p:nvPr/>
        </p:nvSpPr>
        <p:spPr>
          <a:xfrm>
            <a:off x="303320" y="3306308"/>
            <a:ext cx="11585360" cy="1200329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Trial 0 finished with value: 3.070014476776123 and parameters: 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{'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n_layers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4,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n_heads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4,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d_model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12,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d_ff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128,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attn_dropout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0.5, 'dropout': 0.0,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patch_len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30, '</a:t>
            </a:r>
            <a:r>
              <a:rPr lang="en-US" dirty="0" err="1">
                <a:solidFill>
                  <a:srgbClr val="D4D4D4"/>
                </a:solidFill>
                <a:latin typeface="Consolas" panose="020B0609020204030204" pitchFamily="49" charset="0"/>
              </a:rPr>
              <a:t>learning_rate</a:t>
            </a:r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': 0.0008668672002100416}. </a:t>
            </a:r>
          </a:p>
          <a:p>
            <a:r>
              <a:rPr lang="en-US" dirty="0">
                <a:solidFill>
                  <a:srgbClr val="D4D4D4"/>
                </a:solidFill>
                <a:latin typeface="Consolas" panose="020B0609020204030204" pitchFamily="49" charset="0"/>
              </a:rPr>
              <a:t>Best is trial 0 with value: 3.070014476776123.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AEA618-983D-4B37-BFF8-CF6DEB1AF40B}"/>
              </a:ext>
            </a:extLst>
          </p:cNvPr>
          <p:cNvSpPr txBox="1"/>
          <p:nvPr/>
        </p:nvSpPr>
        <p:spPr>
          <a:xfrm>
            <a:off x="4793528" y="6413202"/>
            <a:ext cx="1963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 15. </a:t>
            </a:r>
            <a:r>
              <a:rPr lang="en-US" dirty="0" err="1"/>
              <a:t>Optuna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3905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9"/>
            <a:ext cx="10515600" cy="4647968"/>
          </a:xfrm>
        </p:spPr>
        <p:txBody>
          <a:bodyPr>
            <a:noAutofit/>
          </a:bodyPr>
          <a:lstStyle/>
          <a:p>
            <a:r>
              <a:rPr lang="en-US" sz="3000" dirty="0"/>
              <a:t>We discussed the history of time-series forecasting and current state-of-the-art methods.</a:t>
            </a:r>
          </a:p>
          <a:p>
            <a:r>
              <a:rPr lang="en-US" sz="3000" dirty="0"/>
              <a:t>We talked about which data we used and what data preprocessing techniques we applied to the data.</a:t>
            </a:r>
          </a:p>
          <a:p>
            <a:r>
              <a:rPr lang="en-US" sz="3000" dirty="0"/>
              <a:t>We proposed a train / validation splitting technique for time series data, which turned out to be better than the default one.</a:t>
            </a:r>
          </a:p>
          <a:p>
            <a:r>
              <a:rPr lang="en-US" sz="3000" dirty="0"/>
              <a:t>We proposed 3 methods </a:t>
            </a:r>
            <a:r>
              <a:rPr lang="en-US" sz="3000" b="1" dirty="0"/>
              <a:t>to address </a:t>
            </a:r>
            <a:r>
              <a:rPr lang="en-US" sz="3000" dirty="0"/>
              <a:t>the limitations of the existing multivariate time series forecasting Transformer-based models </a:t>
            </a:r>
            <a:r>
              <a:rPr lang="en-US" sz="3000" b="1" dirty="0"/>
              <a:t>and enhance</a:t>
            </a:r>
            <a:r>
              <a:rPr lang="en-US" sz="3000" dirty="0"/>
              <a:t> their performance. Only </a:t>
            </a:r>
            <a:r>
              <a:rPr lang="en-US" sz="3000" b="1" dirty="0"/>
              <a:t>1</a:t>
            </a:r>
            <a:r>
              <a:rPr lang="en-US" sz="3000" dirty="0"/>
              <a:t> of the methods worked, however.</a:t>
            </a:r>
          </a:p>
        </p:txBody>
      </p:sp>
    </p:spTree>
    <p:extLst>
      <p:ext uri="{BB962C8B-B14F-4D97-AF65-F5344CB8AC3E}">
        <p14:creationId xmlns:p14="http://schemas.microsoft.com/office/powerpoint/2010/main" val="5269238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68E6C-6E50-466C-87BD-E58C82933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Gained insight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48697-F679-4275-B7BD-2B41F2D4B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0427"/>
            <a:ext cx="10515600" cy="4971495"/>
          </a:xfrm>
        </p:spPr>
        <p:txBody>
          <a:bodyPr>
            <a:normAutofit lnSpcReduction="10000"/>
          </a:bodyPr>
          <a:lstStyle/>
          <a:p>
            <a:r>
              <a:rPr lang="en-US" sz="3000" dirty="0"/>
              <a:t>Using default time-series split technique leads to bad performance.</a:t>
            </a:r>
          </a:p>
          <a:p>
            <a:r>
              <a:rPr lang="en-US" sz="3000" dirty="0"/>
              <a:t>Trying to encode high dimensional time-series data into a low dimensional data is not worth it.</a:t>
            </a:r>
          </a:p>
          <a:p>
            <a:r>
              <a:rPr lang="en-US" sz="3000" dirty="0"/>
              <a:t>Just predicting the next values proved to be not possible. Focus on predicting the probability whether the price will go up or down.</a:t>
            </a:r>
          </a:p>
          <a:p>
            <a:r>
              <a:rPr lang="en-US" sz="3000" dirty="0"/>
              <a:t>Since using all the features led to better results, that might be a good idea to include more technical indicators.</a:t>
            </a:r>
          </a:p>
          <a:p>
            <a:r>
              <a:rPr lang="en-US" sz="3000" dirty="0"/>
              <a:t>Try more complex architectures for higher dimensional data and model ensembles.</a:t>
            </a:r>
          </a:p>
        </p:txBody>
      </p:sp>
    </p:spTree>
    <p:extLst>
      <p:ext uri="{BB962C8B-B14F-4D97-AF65-F5344CB8AC3E}">
        <p14:creationId xmlns:p14="http://schemas.microsoft.com/office/powerpoint/2010/main" val="112274790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71EB-1971-4B17-878C-B62A7E048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423" y="2024109"/>
            <a:ext cx="6883153" cy="1752349"/>
          </a:xfrm>
        </p:spPr>
        <p:txBody>
          <a:bodyPr>
            <a:normAutofit/>
          </a:bodyPr>
          <a:lstStyle/>
          <a:p>
            <a:r>
              <a:rPr lang="en-US" sz="5400" dirty="0"/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19144881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EBDF06B-FBDD-4F38-B4AC-E824603AAA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22088"/>
            <a:ext cx="12192000" cy="32359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56FC3E-215F-4C41-A012-1046FA8D6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74" y="172432"/>
            <a:ext cx="9746649" cy="3342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11735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271EB-1971-4B17-878C-B62A7E048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54423" y="2290439"/>
            <a:ext cx="6883153" cy="1752349"/>
          </a:xfrm>
        </p:spPr>
        <p:txBody>
          <a:bodyPr>
            <a:normAutofit/>
          </a:bodyPr>
          <a:lstStyle/>
          <a:p>
            <a:r>
              <a:rPr lang="en-US" sz="5400" dirty="0"/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2376883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770F2-997A-415E-8EAA-2F05212C3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F3B39-748B-47EF-85A4-17AC5920D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0212"/>
            <a:ext cx="10515600" cy="5387787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Ashish Vaswani, Noam </a:t>
            </a:r>
            <a:r>
              <a:rPr lang="en-US" dirty="0" err="1"/>
              <a:t>Shazeer</a:t>
            </a:r>
            <a:r>
              <a:rPr lang="en-US" dirty="0"/>
              <a:t>, Niki Parmar, Jakob </a:t>
            </a:r>
            <a:r>
              <a:rPr lang="en-US" dirty="0" err="1"/>
              <a:t>Uszkoreit</a:t>
            </a:r>
            <a:r>
              <a:rPr lang="en-US" dirty="0"/>
              <a:t>, </a:t>
            </a:r>
            <a:r>
              <a:rPr lang="en-US" dirty="0" err="1"/>
              <a:t>Llion</a:t>
            </a:r>
            <a:r>
              <a:rPr lang="en-US" dirty="0"/>
              <a:t> Jones, Aidan N. Gomez, Lukasz Kaiser, and </a:t>
            </a:r>
            <a:r>
              <a:rPr lang="en-US" dirty="0" err="1"/>
              <a:t>Illia</a:t>
            </a:r>
            <a:r>
              <a:rPr lang="en-US" dirty="0"/>
              <a:t> </a:t>
            </a:r>
            <a:r>
              <a:rPr lang="en-US" dirty="0" err="1"/>
              <a:t>Polosukhin</a:t>
            </a:r>
            <a:r>
              <a:rPr lang="en-US" dirty="0"/>
              <a:t>. Attention is all you need, 2023.</a:t>
            </a:r>
          </a:p>
          <a:p>
            <a:r>
              <a:rPr lang="en-US" dirty="0"/>
              <a:t>Salman Khan, </a:t>
            </a:r>
            <a:r>
              <a:rPr lang="en-US" dirty="0" err="1"/>
              <a:t>Muzammal</a:t>
            </a:r>
            <a:r>
              <a:rPr lang="en-US" dirty="0"/>
              <a:t> Naseer, Munawar Hayat, Syed Waqas Zamir, Fahad Shahbaz Khan, and Mubarak Shah. Transformers in vision: A survey. ACM Computing Surveys, 54(10s):1–41, January 2022.</a:t>
            </a:r>
          </a:p>
          <a:p>
            <a:r>
              <a:rPr lang="en-US" dirty="0"/>
              <a:t>Shigeki </a:t>
            </a:r>
            <a:r>
              <a:rPr lang="en-US" dirty="0" err="1"/>
              <a:t>Karita</a:t>
            </a:r>
            <a:r>
              <a:rPr lang="en-US" dirty="0"/>
              <a:t>, </a:t>
            </a:r>
            <a:r>
              <a:rPr lang="en-US" dirty="0" err="1"/>
              <a:t>Nanxin</a:t>
            </a:r>
            <a:r>
              <a:rPr lang="en-US" dirty="0"/>
              <a:t> Chen, Tomoki Hayashi, </a:t>
            </a:r>
            <a:r>
              <a:rPr lang="en-US" dirty="0" err="1"/>
              <a:t>Takaaki</a:t>
            </a:r>
            <a:r>
              <a:rPr lang="en-US" dirty="0"/>
              <a:t> Hori, Hirofumi </a:t>
            </a:r>
            <a:r>
              <a:rPr lang="en-US" dirty="0" err="1"/>
              <a:t>Inaguma</a:t>
            </a:r>
            <a:r>
              <a:rPr lang="en-US" dirty="0"/>
              <a:t>, </a:t>
            </a:r>
            <a:r>
              <a:rPr lang="en-US" dirty="0" err="1"/>
              <a:t>Ziyan</a:t>
            </a:r>
            <a:r>
              <a:rPr lang="en-US" dirty="0"/>
              <a:t> Jiang, Masao </a:t>
            </a:r>
            <a:r>
              <a:rPr lang="en-US" dirty="0" err="1"/>
              <a:t>Someki</a:t>
            </a:r>
            <a:r>
              <a:rPr lang="en-US" dirty="0"/>
              <a:t>, Nelson Enrique Yalta </a:t>
            </a:r>
            <a:r>
              <a:rPr lang="en-US" dirty="0" err="1"/>
              <a:t>Soplin</a:t>
            </a:r>
            <a:r>
              <a:rPr lang="en-US" dirty="0"/>
              <a:t>, Ryuichi Yamamoto, </a:t>
            </a:r>
            <a:r>
              <a:rPr lang="en-US" dirty="0" err="1"/>
              <a:t>Xiaofei</a:t>
            </a:r>
            <a:r>
              <a:rPr lang="en-US" dirty="0"/>
              <a:t> Wang, Shinji Watanabe, </a:t>
            </a:r>
            <a:r>
              <a:rPr lang="en-US" dirty="0" err="1"/>
              <a:t>Takenori</a:t>
            </a:r>
            <a:r>
              <a:rPr lang="en-US" dirty="0"/>
              <a:t> Yoshimura, and </a:t>
            </a:r>
            <a:r>
              <a:rPr lang="en-US" dirty="0" err="1"/>
              <a:t>Wangyou</a:t>
            </a:r>
            <a:r>
              <a:rPr lang="en-US" dirty="0"/>
              <a:t> Zhang. A comparative study on transformer vs </a:t>
            </a:r>
            <a:r>
              <a:rPr lang="en-US" dirty="0" err="1"/>
              <a:t>rnn</a:t>
            </a:r>
            <a:r>
              <a:rPr lang="en-US" dirty="0"/>
              <a:t> in speech applications. In 2019 IEEE Automatic Speech Recognition and Understanding Workshop (ASRU). IEEE, December 2019.</a:t>
            </a:r>
          </a:p>
          <a:p>
            <a:r>
              <a:rPr lang="en-US" dirty="0" err="1"/>
              <a:t>Qingsong</a:t>
            </a:r>
            <a:r>
              <a:rPr lang="en-US" dirty="0"/>
              <a:t> Wen, Tian Zhou, </a:t>
            </a:r>
            <a:r>
              <a:rPr lang="en-US" dirty="0" err="1"/>
              <a:t>Chaoli</a:t>
            </a:r>
            <a:r>
              <a:rPr lang="en-US" dirty="0"/>
              <a:t> Zhang, </a:t>
            </a:r>
            <a:r>
              <a:rPr lang="en-US" dirty="0" err="1"/>
              <a:t>Weiqi</a:t>
            </a:r>
            <a:r>
              <a:rPr lang="en-US" dirty="0"/>
              <a:t> Chen, </a:t>
            </a:r>
            <a:r>
              <a:rPr lang="en-US" dirty="0" err="1"/>
              <a:t>Ziqing</a:t>
            </a:r>
            <a:r>
              <a:rPr lang="en-US" dirty="0"/>
              <a:t> Ma, </a:t>
            </a:r>
            <a:r>
              <a:rPr lang="en-US" dirty="0" err="1"/>
              <a:t>Junchi</a:t>
            </a:r>
            <a:r>
              <a:rPr lang="en-US" dirty="0"/>
              <a:t> Yan, and Liang Sun. Transformers in time series: A survey. </a:t>
            </a:r>
            <a:r>
              <a:rPr lang="en-US" dirty="0" err="1"/>
              <a:t>arXiv</a:t>
            </a:r>
            <a:r>
              <a:rPr lang="en-US" dirty="0"/>
              <a:t> preprint arXiv:2202.07125, 2023.</a:t>
            </a:r>
          </a:p>
          <a:p>
            <a:r>
              <a:rPr lang="en-US" dirty="0" err="1"/>
              <a:t>Yuqi</a:t>
            </a:r>
            <a:r>
              <a:rPr lang="en-US" dirty="0"/>
              <a:t> </a:t>
            </a:r>
            <a:r>
              <a:rPr lang="en-US" dirty="0" err="1"/>
              <a:t>Nie</a:t>
            </a:r>
            <a:r>
              <a:rPr lang="en-US" dirty="0"/>
              <a:t>, Nam H. Nguyen, </a:t>
            </a:r>
            <a:r>
              <a:rPr lang="en-US" dirty="0" err="1"/>
              <a:t>Phanwadee</a:t>
            </a:r>
            <a:r>
              <a:rPr lang="en-US" dirty="0"/>
              <a:t> </a:t>
            </a:r>
            <a:r>
              <a:rPr lang="en-US" dirty="0" err="1"/>
              <a:t>Sinthong</a:t>
            </a:r>
            <a:r>
              <a:rPr lang="en-US" dirty="0"/>
              <a:t>, and Jayant </a:t>
            </a:r>
            <a:r>
              <a:rPr lang="en-US" dirty="0" err="1"/>
              <a:t>Kalagnanam</a:t>
            </a:r>
            <a:r>
              <a:rPr lang="en-US" dirty="0"/>
              <a:t>. A time series is worth 64 words: Long-term forecasting with transformers, 2023.</a:t>
            </a:r>
          </a:p>
          <a:p>
            <a:r>
              <a:rPr lang="en-US" dirty="0"/>
              <a:t>Leslie N. Smith. Cyclical learning rates for training neural networks, 2017.</a:t>
            </a:r>
          </a:p>
        </p:txBody>
      </p:sp>
    </p:spTree>
    <p:extLst>
      <p:ext uri="{BB962C8B-B14F-4D97-AF65-F5344CB8AC3E}">
        <p14:creationId xmlns:p14="http://schemas.microsoft.com/office/powerpoint/2010/main" val="26232415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1065</TotalTime>
  <Words>1805</Words>
  <Application>Microsoft Office PowerPoint</Application>
  <PresentationFormat>Widescreen</PresentationFormat>
  <Paragraphs>148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Cambria Math</vt:lpstr>
      <vt:lpstr>Consolas</vt:lpstr>
      <vt:lpstr>Office Theme</vt:lpstr>
      <vt:lpstr>Multivariate Time Series Forecasting with Transformers: Optimizing Prediction Performance</vt:lpstr>
      <vt:lpstr>Outline</vt:lpstr>
      <vt:lpstr>Project Overview</vt:lpstr>
      <vt:lpstr>Time series forecasting: History</vt:lpstr>
      <vt:lpstr>Transformers: History</vt:lpstr>
      <vt:lpstr>Transformers: Overview</vt:lpstr>
      <vt:lpstr>Transformers: PatchTST</vt:lpstr>
      <vt:lpstr>Data: quick overview | Definition</vt:lpstr>
      <vt:lpstr>Data: quick overview | Feature Selection,            Splitting &amp; Scaling</vt:lpstr>
      <vt:lpstr>Train / validation splits:  traditional &amp; our approaches</vt:lpstr>
      <vt:lpstr>Preprocessing for Transformers:   lookback &amp; prediction windows</vt:lpstr>
      <vt:lpstr>Problem with multivariate TSTs:  same input &amp; output feature sets</vt:lpstr>
      <vt:lpstr>Problem with multivariate TSTs :  solution idea 1: Convolutional Autoencoder</vt:lpstr>
      <vt:lpstr>Problem with multivariate TSTs:  solution idea 2: Encoder + TST</vt:lpstr>
      <vt:lpstr>Problem with multivariate TSTs:  solution idea 3: custom loss function</vt:lpstr>
      <vt:lpstr>Results</vt:lpstr>
      <vt:lpstr>Results: default / custom splits</vt:lpstr>
      <vt:lpstr>Results: default vs custom split (1 day)</vt:lpstr>
      <vt:lpstr>Results: default vs custom split (5 days)</vt:lpstr>
      <vt:lpstr>PowerPoint Presentation</vt:lpstr>
      <vt:lpstr>Results: weighted loss</vt:lpstr>
      <vt:lpstr>Results: weighted loss</vt:lpstr>
      <vt:lpstr>PowerPoint Presentation</vt:lpstr>
      <vt:lpstr>PowerPoint Presentation</vt:lpstr>
      <vt:lpstr>PowerPoint Presentation</vt:lpstr>
      <vt:lpstr>Notes | Cyclical learning rates</vt:lpstr>
      <vt:lpstr>Notes | Cyclical learning rates</vt:lpstr>
      <vt:lpstr>Notes |Optuna</vt:lpstr>
      <vt:lpstr>Recap</vt:lpstr>
      <vt:lpstr>Gained insight</vt:lpstr>
      <vt:lpstr>Demo</vt:lpstr>
      <vt:lpstr>PowerPoint Presentation</vt:lpstr>
      <vt:lpstr>Thank you for your attention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Dimensionality Reduction and Validation Techniques for Multivariate Time Series Forecasting with Transformers</dc:title>
  <dc:creator>ztsv</dc:creator>
  <cp:lastModifiedBy>zaitsevav</cp:lastModifiedBy>
  <cp:revision>172</cp:revision>
  <dcterms:created xsi:type="dcterms:W3CDTF">2024-05-16T11:05:33Z</dcterms:created>
  <dcterms:modified xsi:type="dcterms:W3CDTF">2024-05-27T16:50:54Z</dcterms:modified>
</cp:coreProperties>
</file>