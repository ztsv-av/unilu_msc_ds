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8" r:id="rId3"/>
    <p:sldId id="260" r:id="rId4"/>
    <p:sldId id="259" r:id="rId5"/>
    <p:sldId id="262" r:id="rId6"/>
    <p:sldId id="264" r:id="rId7"/>
    <p:sldId id="257" r:id="rId8"/>
    <p:sldId id="261" r:id="rId9"/>
    <p:sldId id="26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7BB925-2C6F-456E-AC9F-4E30E527B859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F6281B-FD94-410E-9E74-6B44727B95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474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9B53D-71CB-49CE-9A82-7E829CF7F9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5DCB12-EE9A-4E37-A2CC-331493E7DD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C2A1C2-6DE8-44F6-AFAD-762EDAF28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8C047-CE93-4B0D-80FC-DDC820DF5521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A5AB84-4854-4A16-82E6-653FB233D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E9C334-61AB-4131-BF29-A369EC876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7CEDD-2F5A-44E4-9E81-6150ADDA4B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786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63CCC-9D15-455B-B0BA-B044D7462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B660FD-0B93-4C7B-B0D9-6B5E667CE7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BDB5F5-E595-4583-9FEE-00EB03A179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8C047-CE93-4B0D-80FC-DDC820DF5521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5D4C7E-B97A-4ED9-8DE6-734A8116E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07B24E-E336-470C-9B8F-CABAD00AE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7CEDD-2F5A-44E4-9E81-6150ADDA4B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0665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53D85-0EE1-4578-AE43-947AB2ECB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80A275-71E4-45E4-8D6E-56F7F5D702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D7204C-BAED-466F-B137-2541FEDDB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8C047-CE93-4B0D-80FC-DDC820DF5521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B494B9-3452-4EB6-9C61-9C5279FC2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4C43BA-BC8A-4FCD-92F8-C27BF968D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7CEDD-2F5A-44E4-9E81-6150ADDA4B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193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3D5CB-F5E2-419D-8667-D410BA75E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B0E9EA-4981-43B3-9B65-7EE758DCE5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864C29-2260-4801-AFE9-349349D64C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56F6A7-8ABA-4829-961E-925BAB5567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8C047-CE93-4B0D-80FC-DDC820DF5521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0FDAEE-CB5E-4662-B9C0-9BA2C9B50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04F09B-C35F-465F-970B-80EF79A29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7CEDD-2F5A-44E4-9E81-6150ADDA4B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9558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9B92BF-B192-486F-A28D-281B6C444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F2CB28-7553-40C1-A039-542A72CC22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73D7B3-F857-4E2D-9722-3356B7A167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5822CA-534A-4080-AA61-B9DD9D0178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AF379C-8775-4001-8DF3-0F68BC970C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8B3A4B6-F88E-4B61-ABCD-B9AFF63F0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8C047-CE93-4B0D-80FC-DDC820DF5521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CD2A6BC-A758-41E3-939D-142283173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BE3EE97-F6CB-4644-9231-014906241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7CEDD-2F5A-44E4-9E81-6150ADDA4B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7961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DC3452-9639-49A7-9A1E-007E92FA84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7A3120-F9F8-48ED-B265-BF6B373C48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8C047-CE93-4B0D-80FC-DDC820DF5521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860551-2235-488F-8F85-B4A3E09EC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AB0AA5-AE34-4575-820A-E9B320D30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7CEDD-2F5A-44E4-9E81-6150ADDA4B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005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508DD3-2CA9-45DA-AA94-54502C7FAF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8C047-CE93-4B0D-80FC-DDC820DF5521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433344-3718-402D-A748-1ADAD20AF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AB3218-64B1-49C5-8AFB-B39A0BBB8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7CEDD-2F5A-44E4-9E81-6150ADDA4B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0323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02EBB-0B64-4DD1-97D0-9968E00DE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10A7CD-3059-4B01-88B6-E77B5D16B8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098ABD-94BD-44DE-BE4D-8A8EFCB5BC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294DCE-0896-4711-9D5E-8BB3D3671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8C047-CE93-4B0D-80FC-DDC820DF5521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58CF00-2A5D-4093-87C7-27E8FE3AC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064A1F-DEDA-4EAB-8FFB-059A85081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7CEDD-2F5A-44E4-9E81-6150ADDA4B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5901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8F7F9-C849-4CD1-8149-9C95BF5D8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820EBE-59A2-4822-921C-E682E0C9E9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1087DA-406F-469A-A49B-0677C9AE26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2F51FB-036F-45C6-B857-5930E9848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8C047-CE93-4B0D-80FC-DDC820DF5521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001699-2712-4202-AE86-8E57664123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95A7D8-2FDC-41E0-8752-4EF81D1C5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7CEDD-2F5A-44E4-9E81-6150ADDA4B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562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2EE33-9002-4B58-AA88-24F85FBEF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1B7C50-BC6D-4F5C-AFA0-93E67794B0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232243-10FA-439E-A1BB-68A5F1B295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8C047-CE93-4B0D-80FC-DDC820DF5521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9CCF6-F739-44A7-BC5C-D509F0DAC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54D2D2-EFD4-4263-B779-16BD8B292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7CEDD-2F5A-44E4-9E81-6150ADDA4B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66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A6419C3-C044-4A2E-B901-5535ECE63A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81DEF7-1693-4D8F-A6A0-3B0ED08A14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0BD02C-CFAD-4A5A-800F-4A80D31FCA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8C047-CE93-4B0D-80FC-DDC820DF5521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43BC5D-22A0-4552-A210-8031C7F16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CF04A0-1788-460B-AE58-D3369B742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7CEDD-2F5A-44E4-9E81-6150ADDA4B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7958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341BFF-A399-49FF-836A-15713F4B30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8A192E-4DC1-4C2A-9468-2CE9643B42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572BA0-1849-4C6A-9CCE-473646EF46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98C047-CE93-4B0D-80FC-DDC820DF5521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75DA63-F4FF-4C63-B0BC-D5EC6D2F3E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9F0949-A90F-4C81-BF78-67C11166BB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B7CEDD-2F5A-44E4-9E81-6150ADDA4B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167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944A4-8D94-4EA5-B62C-72D937EEA3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9292" y="1122363"/>
            <a:ext cx="9518708" cy="23876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Atomization energy prediction : descriptor for molecules based on Coulomb’s Law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25AD3B-0CF6-4E00-BE03-A3A5070517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85260"/>
            <a:ext cx="9144000" cy="165576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Machine Learning and Data Mining 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Anton Zaitsev – Papadimitriou </a:t>
            </a:r>
            <a:r>
              <a:rPr lang="en-US" dirty="0" err="1"/>
              <a:t>Emmanouil</a:t>
            </a:r>
            <a:r>
              <a:rPr lang="en-US" dirty="0"/>
              <a:t> F.</a:t>
            </a:r>
          </a:p>
        </p:txBody>
      </p:sp>
    </p:spTree>
    <p:extLst>
      <p:ext uri="{BB962C8B-B14F-4D97-AF65-F5344CB8AC3E}">
        <p14:creationId xmlns:p14="http://schemas.microsoft.com/office/powerpoint/2010/main" val="36172587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71D038-5839-467A-ABF4-EF48EB701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10501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Link between the laws of attraction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9ADC68E-A486-4A45-8881-48E15D56DA0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931178"/>
                <a:ext cx="10515600" cy="5926822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US" dirty="0"/>
                  <a:t>Newton’s Law of universal gravitation</a:t>
                </a:r>
                <a:endParaRPr lang="en-US" b="0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dirty="0"/>
                  <a:t>	</a:t>
                </a:r>
                <a:endParaRPr lang="en-US" b="0" i="1" dirty="0">
                  <a:latin typeface="Cambria Math" panose="02040503050406030204" pitchFamily="18" charset="0"/>
                </a:endParaRPr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dirty="0"/>
                  <a:t>gravitational constant.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dirty="0"/>
                  <a:t>mass of an object.</a:t>
                </a:r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/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dirty="0"/>
                  <a:t> distance between centers of the masses.</a:t>
                </a:r>
              </a:p>
              <a:p>
                <a:pPr marL="914400" lvl="2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Coulomb’s Law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dirty="0"/>
                  <a:t>	</a:t>
                </a:r>
                <a:endParaRPr lang="en-US" b="0" i="1" dirty="0">
                  <a:latin typeface="Cambria Math" panose="02040503050406030204" pitchFamily="18" charset="0"/>
                </a:endParaRPr>
              </a:p>
              <a:p>
                <a:pPr lvl="2"/>
                <a:r>
                  <a:rPr lang="en-US" dirty="0"/>
                  <a:t>k</a:t>
                </a:r>
                <a:r>
                  <a:rPr lang="en-US" b="0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dirty="0"/>
                  <a:t>Coulomb’s constant.</a:t>
                </a:r>
              </a:p>
              <a:p>
                <a:pPr lvl="2"/>
                <a:r>
                  <a:rPr lang="en-US" b="0" dirty="0"/>
                  <a:t>Q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dirty="0"/>
                  <a:t>electric charge of an object.</a:t>
                </a:r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/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dirty="0"/>
                  <a:t> distance between centers of the charged objects.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b="0" i="0" dirty="0">
                    <a:solidFill>
                      <a:srgbClr val="000000"/>
                    </a:solidFill>
                    <a:effectLst/>
                    <a:latin typeface="Linux Libertine"/>
                  </a:rPr>
                  <a:t>Electrostatic potential energy of one point charge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/>
                        </m:sSup>
                      </m:den>
                    </m:f>
                  </m:oMath>
                </a14:m>
                <a:r>
                  <a:rPr lang="en-US" dirty="0"/>
                  <a:t>	</a:t>
                </a:r>
                <a:endParaRPr lang="en-US" b="0" i="1" dirty="0">
                  <a:latin typeface="Cambria Math" panose="02040503050406030204" pitchFamily="18" charset="0"/>
                </a:endParaRPr>
              </a:p>
              <a:p>
                <a:pPr lvl="2"/>
                <a:r>
                  <a:rPr lang="en-US" dirty="0"/>
                  <a:t>k</a:t>
                </a:r>
                <a:r>
                  <a:rPr lang="en-US" b="0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dirty="0"/>
                  <a:t>Coulomb’s constant.</a:t>
                </a:r>
              </a:p>
              <a:p>
                <a:pPr lvl="2"/>
                <a:r>
                  <a:rPr lang="en-US" b="0" dirty="0"/>
                  <a:t>Q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dirty="0"/>
                  <a:t>electric charge of an object.</a:t>
                </a:r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/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dirty="0"/>
                  <a:t> distance between centers of the charged objects.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b="0" i="0" dirty="0">
                  <a:solidFill>
                    <a:srgbClr val="000000"/>
                  </a:solidFill>
                  <a:effectLst/>
                  <a:latin typeface="Linux Libertine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9ADC68E-A486-4A45-8881-48E15D56DA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931178"/>
                <a:ext cx="10515600" cy="5926822"/>
              </a:xfrm>
              <a:blipFill>
                <a:blip r:embed="rId2"/>
                <a:stretch>
                  <a:fillRect l="-1043" t="-25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2F6DF6A-A450-4986-AC23-E9AAAE6A46C0}"/>
              </a:ext>
            </a:extLst>
          </p:cNvPr>
          <p:cNvCxnSpPr>
            <a:cxnSpLocks/>
          </p:cNvCxnSpPr>
          <p:nvPr/>
        </p:nvCxnSpPr>
        <p:spPr>
          <a:xfrm>
            <a:off x="838200" y="2482244"/>
            <a:ext cx="105156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184D810-F52B-45FD-9472-EC482EF5378D}"/>
              </a:ext>
            </a:extLst>
          </p:cNvPr>
          <p:cNvCxnSpPr>
            <a:cxnSpLocks/>
          </p:cNvCxnSpPr>
          <p:nvPr/>
        </p:nvCxnSpPr>
        <p:spPr>
          <a:xfrm>
            <a:off x="838200" y="4681814"/>
            <a:ext cx="105156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97872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5077F4-A927-3F73-1685-5E12505DD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484D0-4873-E99D-B65E-6C68E1CE5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85826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Descriptor choice (for qm7x dataset analysis)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80FB9C8-C39B-C7D4-6237-782C12208EF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931178"/>
                <a:ext cx="10515600" cy="5926822"/>
              </a:xfrm>
            </p:spPr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:r>
                  <a:rPr lang="en-US" dirty="0"/>
                  <a:t>First descriptor (given):</a:t>
                </a:r>
              </a:p>
              <a:p>
                <a:pPr marL="0" indent="0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e>
                            </m:d>
                          </m:e>
                          <m:sup/>
                        </m:sSup>
                      </m:den>
                    </m:f>
                  </m:oMath>
                </a14:m>
                <a:r>
                  <a:rPr lang="en-US" dirty="0"/>
                  <a:t>			Only distance between atoms used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dirty="0"/>
                  <a:t> nuclear coordinates.</a:t>
                </a:r>
              </a:p>
              <a:p>
                <a:pPr marL="1371600" lvl="3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Coulomb matrix (first change)</a:t>
                </a:r>
              </a:p>
              <a:p>
                <a:pPr marL="0" indent="0">
                  <a:buNone/>
                </a:pPr>
                <a:r>
                  <a:rPr lang="en-US" dirty="0"/>
                  <a:t>				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0.5</m:t>
                            </m:r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𝑍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2.4</m:t>
                                </m:r>
                              </m:sup>
                            </m:sSub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  <m:e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𝑍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𝑍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num>
                              <m:den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𝑅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𝑅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</m:e>
                                </m:d>
                              </m:den>
                            </m:f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b="0" dirty="0"/>
                  <a:t>			The addition of nuclear charges in the descriptor for improved 					</a:t>
                </a:r>
                <a:r>
                  <a:rPr lang="en-US" dirty="0"/>
                  <a:t>	</a:t>
                </a:r>
                <a:r>
                  <a:rPr lang="en-US" b="0" dirty="0"/>
                  <a:t>accuracy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dirty="0"/>
                  <a:t>nuclear charges.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dirty="0"/>
                  <a:t> nuclear coordinates.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Modified Coulomb matrix (second change, only a test)				</a:t>
                </a:r>
              </a:p>
              <a:p>
                <a:pPr lvl="1"/>
                <a:endParaRPr lang="en-US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0.5</m:t>
                            </m:r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𝑍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2.4</m:t>
                                </m:r>
                              </m:sup>
                            </m:sSub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  <m:e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𝑍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𝑍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num>
                              <m:den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𝑅</m:t>
                                            </m:r>
                                          </m:e>
                                          <m:sub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𝑅</m:t>
                                            </m:r>
                                          </m:e>
                                          <m:sub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𝑗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b="0" dirty="0"/>
                  <a:t>			The change to reversed squared distance from 							simple reversed distance, focusing more on distances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dirty="0"/>
                  <a:t>nuclear charges.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dirty="0"/>
                  <a:t> nuclear coordinates.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80FB9C8-C39B-C7D4-6237-782C12208EF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931178"/>
                <a:ext cx="10515600" cy="5926822"/>
              </a:xfrm>
              <a:blipFill>
                <a:blip r:embed="rId2"/>
                <a:stretch>
                  <a:fillRect l="-638" t="-19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20DE249-DC8F-96FB-7B20-6276E7E2D4E6}"/>
              </a:ext>
            </a:extLst>
          </p:cNvPr>
          <p:cNvCxnSpPr>
            <a:cxnSpLocks/>
          </p:cNvCxnSpPr>
          <p:nvPr/>
        </p:nvCxnSpPr>
        <p:spPr>
          <a:xfrm>
            <a:off x="838200" y="2276971"/>
            <a:ext cx="105156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0431595-EA9B-DB88-4738-48451E9AD869}"/>
              </a:ext>
            </a:extLst>
          </p:cNvPr>
          <p:cNvCxnSpPr>
            <a:cxnSpLocks/>
          </p:cNvCxnSpPr>
          <p:nvPr/>
        </p:nvCxnSpPr>
        <p:spPr>
          <a:xfrm>
            <a:off x="940837" y="4495202"/>
            <a:ext cx="105156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73974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F0129-B1CE-4C18-95E6-0F4D56422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89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What changed?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E95542-BF2D-450E-A188-9AF4829F8E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978" y="1333953"/>
            <a:ext cx="11882044" cy="498542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/>
              <a:t>Before: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Calculate </a:t>
            </a:r>
            <a:r>
              <a:rPr lang="en-US" b="1" dirty="0"/>
              <a:t>pair-wise distances </a:t>
            </a:r>
            <a:r>
              <a:rPr lang="en-US" dirty="0"/>
              <a:t>between atoms, get distance matrix.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Pad</a:t>
            </a:r>
            <a:r>
              <a:rPr lang="en-US" b="1" dirty="0"/>
              <a:t> </a:t>
            </a:r>
            <a:r>
              <a:rPr lang="en-US" dirty="0"/>
              <a:t>each distance matrix </a:t>
            </a:r>
            <a:r>
              <a:rPr lang="en-US" b="1" dirty="0"/>
              <a:t>with zeros</a:t>
            </a:r>
            <a:r>
              <a:rPr lang="en-US" dirty="0"/>
              <a:t> until the maximum size of the matrix is reached (maximum number of atoms)</a:t>
            </a:r>
          </a:p>
          <a:p>
            <a:pPr marL="0" indent="0">
              <a:buNone/>
            </a:pPr>
            <a:r>
              <a:rPr lang="en-US" sz="2400" dirty="0"/>
              <a:t>Now: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 Create </a:t>
            </a:r>
            <a:r>
              <a:rPr lang="en-US" b="1" dirty="0"/>
              <a:t>zeros matrix of the maximum size </a:t>
            </a:r>
            <a:r>
              <a:rPr lang="en-US" dirty="0"/>
              <a:t>(maximum number of atoms).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 Calculate </a:t>
            </a:r>
            <a:r>
              <a:rPr lang="en-US" b="1" dirty="0"/>
              <a:t>distances</a:t>
            </a:r>
            <a:r>
              <a:rPr lang="en-US" dirty="0"/>
              <a:t> between atoms (squared), get distance matrix.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Calculate </a:t>
            </a:r>
            <a:r>
              <a:rPr lang="en-US" b="1" dirty="0"/>
              <a:t>charges </a:t>
            </a:r>
            <a:r>
              <a:rPr lang="en-US" dirty="0"/>
              <a:t>matrix</a:t>
            </a:r>
            <a:r>
              <a:rPr lang="en-US" b="1" dirty="0"/>
              <a:t> </a:t>
            </a:r>
            <a:r>
              <a:rPr lang="en-US" dirty="0"/>
              <a:t>by multiplying charges of atoms with each other.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Divide </a:t>
            </a:r>
            <a:r>
              <a:rPr lang="en-US" b="1" dirty="0"/>
              <a:t>charges</a:t>
            </a:r>
            <a:r>
              <a:rPr lang="en-US" dirty="0"/>
              <a:t> matrix </a:t>
            </a:r>
            <a:r>
              <a:rPr lang="en-US" b="1" dirty="0"/>
              <a:t>by</a:t>
            </a:r>
            <a:r>
              <a:rPr lang="en-US" dirty="0"/>
              <a:t> the </a:t>
            </a:r>
            <a:r>
              <a:rPr lang="en-US" b="1" dirty="0"/>
              <a:t>distance</a:t>
            </a:r>
            <a:r>
              <a:rPr lang="en-US" dirty="0"/>
              <a:t> matrix.</a:t>
            </a:r>
          </a:p>
          <a:p>
            <a:pPr lvl="2"/>
            <a:r>
              <a:rPr lang="en-US" sz="2400" i="1" dirty="0"/>
              <a:t>Get energy of columbic repulsion between different pairs of nuclei in the molecule.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For the </a:t>
            </a:r>
            <a:r>
              <a:rPr lang="en-US" b="1" dirty="0"/>
              <a:t>diagonal</a:t>
            </a:r>
            <a:r>
              <a:rPr lang="en-US" dirty="0"/>
              <a:t>, compute </a:t>
            </a:r>
            <a:r>
              <a:rPr lang="en-US" b="1" i="1" dirty="0"/>
              <a:t>exponential fit of the potential energies </a:t>
            </a:r>
            <a:r>
              <a:rPr lang="en-US" i="1" dirty="0"/>
              <a:t>of the isolated atoms.</a:t>
            </a:r>
          </a:p>
          <a:p>
            <a:pPr lvl="2"/>
            <a:r>
              <a:rPr lang="en-US" sz="2400" i="1" dirty="0"/>
              <a:t>Empirically chosen by the original developers of Coulomb matrices.</a:t>
            </a:r>
          </a:p>
        </p:txBody>
      </p:sp>
    </p:spTree>
    <p:extLst>
      <p:ext uri="{BB962C8B-B14F-4D97-AF65-F5344CB8AC3E}">
        <p14:creationId xmlns:p14="http://schemas.microsoft.com/office/powerpoint/2010/main" val="29196472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98A3EFA-CCE5-438E-A651-31059A89A4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725" y="1015527"/>
            <a:ext cx="11677475" cy="567888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EF0129-B1CE-4C18-95E6-0F4D56422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89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What changed?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E95542-BF2D-450E-A188-9AF4829F8E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72126" y="1166470"/>
            <a:ext cx="6315074" cy="2500655"/>
          </a:xfr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/>
          <a:p>
            <a:pPr marL="914400" lvl="1" indent="-457200">
              <a:buFont typeface="+mj-lt"/>
              <a:buAutoNum type="arabicPeriod"/>
            </a:pPr>
            <a:r>
              <a:rPr lang="en-US" sz="2000" dirty="0">
                <a:solidFill>
                  <a:schemeClr val="bg1"/>
                </a:solidFill>
              </a:rPr>
              <a:t> Create </a:t>
            </a:r>
            <a:r>
              <a:rPr lang="en-US" sz="2000" b="1" dirty="0">
                <a:solidFill>
                  <a:schemeClr val="bg1"/>
                </a:solidFill>
              </a:rPr>
              <a:t>zeros matrix of the maximum size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>
                <a:solidFill>
                  <a:schemeClr val="bg1"/>
                </a:solidFill>
              </a:rPr>
              <a:t> Calculate </a:t>
            </a:r>
            <a:r>
              <a:rPr lang="en-US" sz="2000" b="1" dirty="0">
                <a:solidFill>
                  <a:schemeClr val="bg1"/>
                </a:solidFill>
              </a:rPr>
              <a:t>distances</a:t>
            </a:r>
            <a:r>
              <a:rPr lang="en-US" sz="2000" dirty="0">
                <a:solidFill>
                  <a:schemeClr val="bg1"/>
                </a:solidFill>
              </a:rPr>
              <a:t> between atoms (squared), get distance matrix.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000" dirty="0">
                <a:solidFill>
                  <a:schemeClr val="bg1"/>
                </a:solidFill>
              </a:rPr>
              <a:t>Calculate </a:t>
            </a:r>
            <a:r>
              <a:rPr lang="en-US" sz="2000" b="1" dirty="0">
                <a:solidFill>
                  <a:schemeClr val="bg1"/>
                </a:solidFill>
              </a:rPr>
              <a:t>charges </a:t>
            </a:r>
            <a:r>
              <a:rPr lang="en-US" sz="2000" dirty="0">
                <a:solidFill>
                  <a:schemeClr val="bg1"/>
                </a:solidFill>
              </a:rPr>
              <a:t>matrix</a:t>
            </a:r>
            <a:r>
              <a:rPr lang="en-US" sz="2000" b="1" dirty="0">
                <a:solidFill>
                  <a:schemeClr val="bg1"/>
                </a:solidFill>
              </a:rPr>
              <a:t> </a:t>
            </a:r>
            <a:r>
              <a:rPr lang="en-US" sz="2000" dirty="0">
                <a:solidFill>
                  <a:schemeClr val="bg1"/>
                </a:solidFill>
              </a:rPr>
              <a:t>by multiplying charges of atoms with each other.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000" b="1" dirty="0">
                <a:solidFill>
                  <a:schemeClr val="bg1"/>
                </a:solidFill>
              </a:rPr>
              <a:t>Divide</a:t>
            </a:r>
            <a:r>
              <a:rPr lang="en-US" sz="2000" dirty="0">
                <a:solidFill>
                  <a:schemeClr val="bg1"/>
                </a:solidFill>
              </a:rPr>
              <a:t> the </a:t>
            </a:r>
            <a:r>
              <a:rPr lang="en-US" sz="2000" b="1" dirty="0">
                <a:solidFill>
                  <a:schemeClr val="bg1"/>
                </a:solidFill>
              </a:rPr>
              <a:t>charges</a:t>
            </a:r>
            <a:r>
              <a:rPr lang="en-US" sz="2000" dirty="0">
                <a:solidFill>
                  <a:schemeClr val="bg1"/>
                </a:solidFill>
              </a:rPr>
              <a:t> matrix </a:t>
            </a:r>
            <a:r>
              <a:rPr lang="en-US" sz="2000" b="1" dirty="0">
                <a:solidFill>
                  <a:schemeClr val="bg1"/>
                </a:solidFill>
              </a:rPr>
              <a:t>by</a:t>
            </a:r>
            <a:r>
              <a:rPr lang="en-US" sz="2000" dirty="0">
                <a:solidFill>
                  <a:schemeClr val="bg1"/>
                </a:solidFill>
              </a:rPr>
              <a:t> the </a:t>
            </a:r>
            <a:r>
              <a:rPr lang="en-US" sz="2000" b="1" dirty="0">
                <a:solidFill>
                  <a:schemeClr val="bg1"/>
                </a:solidFill>
              </a:rPr>
              <a:t>distance</a:t>
            </a:r>
            <a:r>
              <a:rPr lang="en-US" sz="2000" dirty="0">
                <a:solidFill>
                  <a:schemeClr val="bg1"/>
                </a:solidFill>
              </a:rPr>
              <a:t> matrix.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000" dirty="0">
                <a:solidFill>
                  <a:schemeClr val="bg1"/>
                </a:solidFill>
              </a:rPr>
              <a:t>For the </a:t>
            </a:r>
            <a:r>
              <a:rPr lang="en-US" sz="2000" b="1" dirty="0">
                <a:solidFill>
                  <a:schemeClr val="bg1"/>
                </a:solidFill>
              </a:rPr>
              <a:t>diagonal</a:t>
            </a:r>
            <a:r>
              <a:rPr lang="en-US" sz="2000" dirty="0">
                <a:solidFill>
                  <a:schemeClr val="bg1"/>
                </a:solidFill>
              </a:rPr>
              <a:t>, compute </a:t>
            </a:r>
            <a:r>
              <a:rPr lang="en-US" sz="2000" b="1" i="1" dirty="0">
                <a:solidFill>
                  <a:schemeClr val="bg1"/>
                </a:solidFill>
              </a:rPr>
              <a:t>exponential fit of the potential energies </a:t>
            </a:r>
            <a:r>
              <a:rPr lang="en-US" sz="2000" i="1" dirty="0">
                <a:solidFill>
                  <a:schemeClr val="bg1"/>
                </a:solidFill>
              </a:rPr>
              <a:t>of the isolated atoms.</a:t>
            </a:r>
          </a:p>
        </p:txBody>
      </p:sp>
    </p:spTree>
    <p:extLst>
      <p:ext uri="{BB962C8B-B14F-4D97-AF65-F5344CB8AC3E}">
        <p14:creationId xmlns:p14="http://schemas.microsoft.com/office/powerpoint/2010/main" val="29980756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98A3EFA-CCE5-438E-A651-31059A89A4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725" y="1015527"/>
            <a:ext cx="11677475" cy="567888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EF0129-B1CE-4C18-95E6-0F4D56422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89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What changed?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0B599D0-A91A-47C8-B619-CADF458CE8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5795" y="1333952"/>
            <a:ext cx="8464491" cy="380011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299393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rrow: Right 5">
            <a:extLst>
              <a:ext uri="{FF2B5EF4-FFF2-40B4-BE49-F238E27FC236}">
                <a16:creationId xmlns:a16="http://schemas.microsoft.com/office/drawing/2014/main" id="{E2BE14B6-693F-4290-96BC-673981A4ED52}"/>
              </a:ext>
            </a:extLst>
          </p:cNvPr>
          <p:cNvSpPr/>
          <p:nvPr/>
        </p:nvSpPr>
        <p:spPr>
          <a:xfrm>
            <a:off x="5863907" y="3224518"/>
            <a:ext cx="523397" cy="408964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F5B48C8-0AD6-A17E-99B5-E33C4D3DC6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11" y="959813"/>
            <a:ext cx="5438775" cy="53625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FD7DE34-535F-6F35-9A47-7C21DC1CAC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923" y="959813"/>
            <a:ext cx="5438775" cy="536257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4D4BB54-901A-79CD-66CE-F14C6F74BA1E}"/>
              </a:ext>
            </a:extLst>
          </p:cNvPr>
          <p:cNvSpPr txBox="1"/>
          <p:nvPr/>
        </p:nvSpPr>
        <p:spPr>
          <a:xfrm>
            <a:off x="838200" y="6322388"/>
            <a:ext cx="4966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Original descriptor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C917710-2F63-47BB-A8BA-B0FB587B7370}"/>
              </a:ext>
            </a:extLst>
          </p:cNvPr>
          <p:cNvSpPr txBox="1"/>
          <p:nvPr/>
        </p:nvSpPr>
        <p:spPr>
          <a:xfrm>
            <a:off x="6096000" y="6322388"/>
            <a:ext cx="57892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Coulomb matrix representation, Euclidian distance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8913B82F-B4DA-415C-9485-8234601AB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Result comparison</a:t>
            </a:r>
          </a:p>
        </p:txBody>
      </p:sp>
    </p:spTree>
    <p:extLst>
      <p:ext uri="{BB962C8B-B14F-4D97-AF65-F5344CB8AC3E}">
        <p14:creationId xmlns:p14="http://schemas.microsoft.com/office/powerpoint/2010/main" val="40397321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rrow: Right 5">
            <a:extLst>
              <a:ext uri="{FF2B5EF4-FFF2-40B4-BE49-F238E27FC236}">
                <a16:creationId xmlns:a16="http://schemas.microsoft.com/office/drawing/2014/main" id="{E2BE14B6-693F-4290-96BC-673981A4ED52}"/>
              </a:ext>
            </a:extLst>
          </p:cNvPr>
          <p:cNvSpPr/>
          <p:nvPr/>
        </p:nvSpPr>
        <p:spPr>
          <a:xfrm>
            <a:off x="5863907" y="3224518"/>
            <a:ext cx="523397" cy="408964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D7DE34-535F-6F35-9A47-7C21DC1CAC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923" y="959813"/>
            <a:ext cx="5438775" cy="536257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C917710-2F63-47BB-A8BA-B0FB587B7370}"/>
              </a:ext>
            </a:extLst>
          </p:cNvPr>
          <p:cNvSpPr txBox="1"/>
          <p:nvPr/>
        </p:nvSpPr>
        <p:spPr>
          <a:xfrm>
            <a:off x="6095999" y="6322388"/>
            <a:ext cx="5789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Coulomb matrix representation, Euclidian distance squared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081DC3D8-0715-412F-A9CC-EB7DDBC583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Result comparison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BBC513B-065B-4E84-AAB0-228E72CDA7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2657" y="959812"/>
            <a:ext cx="5422629" cy="536257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BF2B49EE-C64A-4FF0-BE31-3F79905FE1ED}"/>
              </a:ext>
            </a:extLst>
          </p:cNvPr>
          <p:cNvSpPr txBox="1"/>
          <p:nvPr/>
        </p:nvSpPr>
        <p:spPr>
          <a:xfrm>
            <a:off x="838200" y="6322388"/>
            <a:ext cx="4966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Original descriptor</a:t>
            </a:r>
          </a:p>
        </p:txBody>
      </p:sp>
    </p:spTree>
    <p:extLst>
      <p:ext uri="{BB962C8B-B14F-4D97-AF65-F5344CB8AC3E}">
        <p14:creationId xmlns:p14="http://schemas.microsoft.com/office/powerpoint/2010/main" val="25164150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7C2FB-5E41-4E7D-8AD0-CBEE0B590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5400" dirty="0"/>
              <a:t>Thank you for your attention</a:t>
            </a:r>
          </a:p>
        </p:txBody>
      </p:sp>
    </p:spTree>
    <p:extLst>
      <p:ext uri="{BB962C8B-B14F-4D97-AF65-F5344CB8AC3E}">
        <p14:creationId xmlns:p14="http://schemas.microsoft.com/office/powerpoint/2010/main" val="2868939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</TotalTime>
  <Words>267</Words>
  <Application>Microsoft Office PowerPoint</Application>
  <PresentationFormat>Widescreen</PresentationFormat>
  <Paragraphs>66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Cambria Math</vt:lpstr>
      <vt:lpstr>Linux Libertine</vt:lpstr>
      <vt:lpstr>Office Theme</vt:lpstr>
      <vt:lpstr>Atomization energy prediction : descriptor for molecules based on Coulomb’s Law</vt:lpstr>
      <vt:lpstr>Link between the laws of attraction</vt:lpstr>
      <vt:lpstr>Descriptor choice (for qm7x dataset analysis)</vt:lpstr>
      <vt:lpstr>What changed?</vt:lpstr>
      <vt:lpstr>What changed?</vt:lpstr>
      <vt:lpstr>What changed?</vt:lpstr>
      <vt:lpstr>Result comparison</vt:lpstr>
      <vt:lpstr>Result comparison</vt:lpstr>
      <vt:lpstr>Thank you for your attention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zaitsevav</dc:creator>
  <cp:lastModifiedBy>zaitsevav</cp:lastModifiedBy>
  <cp:revision>21</cp:revision>
  <dcterms:created xsi:type="dcterms:W3CDTF">2024-02-24T11:36:54Z</dcterms:created>
  <dcterms:modified xsi:type="dcterms:W3CDTF">2024-02-25T14:21:23Z</dcterms:modified>
</cp:coreProperties>
</file>